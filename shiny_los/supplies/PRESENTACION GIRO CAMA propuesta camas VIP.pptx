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+SjUttgf5Cek8q+NEL24SVLan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46C12-3E87-47A1-950A-6E656E5A3829}" v="17" dt="2026-03-16T14:39:56.066"/>
    <p1510:client id="{B7EA0403-1D17-CAA9-AD56-B976AAD2B8AA}" v="1" dt="2026-03-16T13:45:57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35"/>
  </p:normalViewPr>
  <p:slideViewPr>
    <p:cSldViewPr snapToGrid="0">
      <p:cViewPr varScale="1">
        <p:scale>
          <a:sx n="153" d="100"/>
          <a:sy n="15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D7377">
              <a:alpha val="12156"/>
            </a:srgbClr>
          </a:solidFill>
          <a:ln w="12700" cap="flat" cmpd="sng">
            <a:solidFill>
              <a:srgbClr val="0D7377">
                <a:alpha val="1215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14A0A5">
              <a:alpha val="14901"/>
            </a:srgbClr>
          </a:solidFill>
          <a:ln w="12700" cap="flat" cmpd="sng">
            <a:solidFill>
              <a:srgbClr val="14A0A5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47472" y="4114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A0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4A0A5"/>
                </a:solidFill>
                <a:latin typeface="Calibri"/>
                <a:ea typeface="Calibri"/>
                <a:cs typeface="Calibri"/>
                <a:sym typeface="Calibri"/>
              </a:rPr>
              <a:t>PRESENTACIÓN GERENCIAL ESTRATÉGICA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7472" y="86868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ANÁLISIS COMPARATIVO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 RENTABILIDAD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7472" y="26974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F0C96E"/>
                </a:solidFill>
                <a:latin typeface="Calibri"/>
                <a:ea typeface="Calibri"/>
                <a:cs typeface="Calibri"/>
                <a:sym typeface="Calibri"/>
              </a:rPr>
              <a:t>Eficiencia Operativa · Reestructuración de Unidades · Estrategia VIP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7472" y="3246120"/>
            <a:ext cx="3840480" cy="36576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47472" y="34290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DIME </a:t>
            </a:r>
            <a:r>
              <a:rPr lang="en-US" sz="1100" b="1" i="0" u="none" strike="noStrike" cap="none" dirty="0" err="1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Clínica</a:t>
            </a:r>
            <a:r>
              <a:rPr lang="en-US" sz="1100" b="1" i="0" u="none" strike="noStrike" cap="none" dirty="0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 u="none" strike="noStrike" cap="none" dirty="0" err="1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Neurocardiovascular</a:t>
            </a:r>
            <a:r>
              <a:rPr lang="en-US" sz="1100" b="0" i="0" u="none" strike="noStrike" cap="none" dirty="0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n-US" sz="1100" b="0" i="0" u="none" strike="noStrike" cap="none" dirty="0" err="1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Gerencia</a:t>
            </a:r>
            <a:r>
              <a:rPr lang="en-US" sz="1100" b="0" i="0" u="none" strike="noStrike" cap="none" dirty="0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Clínica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7377">
              <a:alpha val="85098"/>
            </a:srgbClr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4498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47731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Camas Totales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560320" y="4498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 Pisos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560320" y="47731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Unidades Clínicas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29200" y="4498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 Escenarios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029200" y="47731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Analizados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32320" y="4498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Viable 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132320" y="47731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Conclusión Financiera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AGENDA DE LA PRESENTACIÓN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" y="1207008"/>
            <a:ext cx="411480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" y="1207008"/>
            <a:ext cx="502920" cy="658368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0040" y="1207008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14400" y="124358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Diagnóstico: Situación Actual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14400" y="151790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Distribución de camas · Finanzas por unidad · Problema de estancia inapropiada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20040" y="1993392"/>
            <a:ext cx="411480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20040" y="1993392"/>
            <a:ext cx="502920" cy="65836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0040" y="1993392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14400" y="202996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Cuantificación del Problema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14400" y="230428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Impacto financiero de 4 camas UCIN mal asignadas · Pérdida mensual y anual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" y="2779776"/>
            <a:ext cx="411480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0040" y="2779776"/>
            <a:ext cx="502920" cy="658368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20040" y="2779776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14400" y="281635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Propuesta de Reestructuración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14400" y="309067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Escenario B: Expansión HOSPI · Estrategia VIP Piso 5 · Ahorro en personal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" y="3566160"/>
            <a:ext cx="411480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0040" y="3566160"/>
            <a:ext cx="502920" cy="658368"/>
          </a:xfrm>
          <a:prstGeom prst="rect">
            <a:avLst/>
          </a:prstGeom>
          <a:solidFill>
            <a:srgbClr val="14A0A5"/>
          </a:solidFill>
          <a:ln w="12700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0040" y="356616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14400" y="360273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Análisis Financiero Comparativo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14400" y="3877056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Facturación · Márgenes · Variación A→B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54880" y="1207008"/>
            <a:ext cx="411480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754880" y="1207008"/>
            <a:ext cx="502920" cy="65836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754880" y="1207008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49240" y="124358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Indicadores de Eficiencia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49240" y="151790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Giro cama · Ocupación · Costos de personal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54880" y="1993392"/>
            <a:ext cx="411480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754880" y="1993392"/>
            <a:ext cx="502920" cy="658368"/>
          </a:xfrm>
          <a:prstGeom prst="rect">
            <a:avLst/>
          </a:prstGeom>
          <a:solidFill>
            <a:srgbClr val="1E7E34"/>
          </a:solidFill>
          <a:ln w="12700" cap="flat" cmpd="sng">
            <a:solidFill>
              <a:srgbClr val="1E7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754880" y="1993392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349240" y="202996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Conclusión y Recomendaciones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349240" y="230428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Viabilidad · Indicadores · Próximos pasos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617720" y="1188720"/>
            <a:ext cx="27432" cy="3200400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A0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4A0A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SITUACIÓN ACTUAL · DISTRIBUCIÓN DE CAMAS Y FINANZAS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74320" y="1115568"/>
            <a:ext cx="2743200" cy="4572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74320" y="11155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PISO 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74320" y="1664208"/>
            <a:ext cx="2743200" cy="157276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274320" y="1664208"/>
            <a:ext cx="2743200" cy="54864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194560" y="1755648"/>
            <a:ext cx="749808" cy="21945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194560" y="175564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DÉFICIT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65760" y="17556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12 camas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2011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 (Adultos)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65760" y="232257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Tarifa/día: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280160" y="232257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$936,714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259689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Costo/día: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280160" y="259689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$1,346,696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5760" y="287121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Margen/día: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280160" y="28712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-$409,982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74320" y="3328416"/>
            <a:ext cx="2743200" cy="157276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0" y="3328416"/>
            <a:ext cx="2743200" cy="54864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2194560" y="3419856"/>
            <a:ext cx="749808" cy="219456"/>
          </a:xfrm>
          <a:prstGeom prst="rect">
            <a:avLst/>
          </a:prstGeom>
          <a:solidFill>
            <a:srgbClr val="1E7E34"/>
          </a:solidFill>
          <a:ln w="12700" cap="flat" cmpd="sng">
            <a:solidFill>
              <a:srgbClr val="1E7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194560" y="3419856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65760" y="34198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6 camas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5760" y="367588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UCIN (Intermedio)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65760" y="398678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Tarifa/día: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280160" y="398678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$581,690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65760" y="426110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Costo/día: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280160" y="426110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$566,122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65760" y="453542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Margen/día: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280160" y="453542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+$15,568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154680" y="1115568"/>
            <a:ext cx="2743200" cy="45720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154680" y="11155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PISO 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154680" y="1664208"/>
            <a:ext cx="2743200" cy="157276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3154680" y="1664208"/>
            <a:ext cx="2743200" cy="54864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074920" y="1755648"/>
            <a:ext cx="749808" cy="21945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5074920" y="175564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MARG. NEG.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246120" y="17556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22 camas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246120" y="2011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Hospitalización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246120" y="232257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Tarifa/día: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160520" y="232257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$291,093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246120" y="259689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Costo/día: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160520" y="259689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$299,597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246120" y="287121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Margen/día: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160520" y="28712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-$8,504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035040" y="1115568"/>
            <a:ext cx="2743200" cy="457200"/>
          </a:xfrm>
          <a:prstGeom prst="rect">
            <a:avLst/>
          </a:prstGeom>
          <a:solidFill>
            <a:srgbClr val="8B0000"/>
          </a:solidFill>
          <a:ln w="127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035040" y="11155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PISO 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35040" y="1664208"/>
            <a:ext cx="2743200" cy="157276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6035040" y="1664208"/>
            <a:ext cx="2743200" cy="54864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955280" y="1755648"/>
            <a:ext cx="749808" cy="219456"/>
          </a:xfrm>
          <a:prstGeom prst="rect">
            <a:avLst/>
          </a:prstGeom>
          <a:solidFill>
            <a:srgbClr val="1E7E34"/>
          </a:solidFill>
          <a:ln w="12700" cap="flat" cmpd="sng">
            <a:solidFill>
              <a:srgbClr val="1E7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955280" y="175564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126480" y="17556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4 camas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126480" y="2011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UCIN Real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126480" y="232257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Tarifa/día: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040880" y="232257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$581,690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126480" y="259689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Costo/día: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040880" y="259689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$566,122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126480" y="2871216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Margen/día: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7040880" y="28712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+$15,568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035040" y="3328416"/>
            <a:ext cx="2743200" cy="157276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035040" y="3328416"/>
            <a:ext cx="2743200" cy="54864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7955280" y="3419856"/>
            <a:ext cx="749808" cy="219456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955280" y="3419856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126480" y="34198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4 camas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126480" y="367588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UCIN → Pcte. HOSPI ⚠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126480" y="398678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Tarifa/día: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7040880" y="398678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$291,093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126480" y="426110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Costo/día: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7040880" y="426110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$566,122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126480" y="4535424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Margen/día: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040880" y="453542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-$274,029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TOTAL: 48 camas activas  ·  Piso 2: 18  ·  Piso 3: 22  ·  Piso 5: 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 w="127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C96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CUANTIFICACIÓN: EL PROBLEMA DE ESTANCIA INAPROPIADA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74320" y="1115568"/>
            <a:ext cx="4023360" cy="2377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274320" y="1115568"/>
            <a:ext cx="4023360" cy="54864"/>
          </a:xfrm>
          <a:prstGeom prst="rect">
            <a:avLst/>
          </a:prstGeom>
          <a:solidFill>
            <a:srgbClr val="8B0000"/>
          </a:solidFill>
          <a:ln w="127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11480" y="120700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8B0000"/>
                </a:solidFill>
                <a:latin typeface="Georgia"/>
                <a:ea typeface="Georgia"/>
                <a:cs typeface="Georgia"/>
                <a:sym typeface="Georgia"/>
              </a:rPr>
              <a:t>¿QUÉ ESTÁ PASANDO?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40080" y="1984248"/>
            <a:ext cx="18288" cy="91440"/>
          </a:xfrm>
          <a:prstGeom prst="rect">
            <a:avLst/>
          </a:prstGeom>
          <a:solidFill>
            <a:srgbClr val="8898AA"/>
          </a:solidFill>
          <a:ln w="12700" cap="flat" cmpd="sng">
            <a:solidFill>
              <a:srgbClr val="8898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11480" y="1600200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841248" y="161848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Paciente con perfil HOSPI ingresa a cama UCIN (Piso 5)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40080" y="2441448"/>
            <a:ext cx="18288" cy="91440"/>
          </a:xfrm>
          <a:prstGeom prst="rect">
            <a:avLst/>
          </a:prstGeom>
          <a:solidFill>
            <a:srgbClr val="8898AA"/>
          </a:solidFill>
          <a:ln w="12700" cap="flat" cmpd="sng">
            <a:solidFill>
              <a:srgbClr val="8898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411480" y="2057400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💵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841248" y="207568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Se factura a tarifa HOSPI: $291,093/día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40080" y="2898648"/>
            <a:ext cx="18288" cy="91440"/>
          </a:xfrm>
          <a:prstGeom prst="rect">
            <a:avLst/>
          </a:prstGeom>
          <a:solidFill>
            <a:srgbClr val="8898AA"/>
          </a:solidFill>
          <a:ln w="12700" cap="flat" cmpd="sng">
            <a:solidFill>
              <a:srgbClr val="8898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11480" y="2514600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41248" y="253288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Pero opera con costo UCIN: $566,122/día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11480" y="2971800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🔻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41248" y="299008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Pérdida neta: -$274,029 por cama, por día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526280" y="1115568"/>
            <a:ext cx="2057400" cy="1325880"/>
          </a:xfrm>
          <a:prstGeom prst="rect">
            <a:avLst/>
          </a:prstGeom>
          <a:solidFill>
            <a:srgbClr val="8B0000"/>
          </a:solidFill>
          <a:ln w="127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4617720" y="1280160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-$274,029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617720" y="192024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Pérdida / cama / día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617720" y="219456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4 camas × $274,029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720840" y="1115568"/>
            <a:ext cx="2057400" cy="132588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812280" y="1280160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-$1,096,116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812280" y="192024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Pérdida total / día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812280" y="219456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Con las 4 camas afectadas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526280" y="2606040"/>
            <a:ext cx="2057400" cy="132588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617720" y="2770632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-$32.9M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617720" y="341071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Pérdida mensual (COP)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617720" y="3685032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×30 días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6720840" y="2606040"/>
            <a:ext cx="2057400" cy="1325880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6812280" y="2770632"/>
            <a:ext cx="1874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-$400M+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812280" y="341071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C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ECF0"/>
                </a:solidFill>
                <a:latin typeface="Calibri"/>
                <a:ea typeface="Calibri"/>
                <a:cs typeface="Calibri"/>
                <a:sym typeface="Calibri"/>
              </a:rPr>
              <a:t>Pérdida anual estimada (COP)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812280" y="3685032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×365 días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274320" y="3931920"/>
            <a:ext cx="8595360" cy="89611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457200" y="4023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96E"/>
                </a:solidFill>
                <a:latin typeface="Calibri"/>
                <a:ea typeface="Calibri"/>
                <a:cs typeface="Calibri"/>
                <a:sym typeface="Calibri"/>
              </a:rPr>
              <a:t>ÍNDICE DE ESTANCIA INAPROPIADA ACTUAL: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977640" y="396849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50%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892040" y="4023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camas Piso 5 usadas inapropiadamente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57200" y="435254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Benchmark recomendado: &lt; 5%  ·  Objetivo Propuesta B: 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C96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PROPUESTA DE REESTRUCTURACIÓN · ESCENARIO B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74320" y="1115568"/>
            <a:ext cx="2743200" cy="43891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274320" y="111556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ANTES (Situación A)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291840" y="1115568"/>
            <a:ext cx="2743200" cy="438912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3291840" y="111556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CAMBIO PROPUESTO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989320" y="1115568"/>
            <a:ext cx="2743200" cy="438912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989320" y="111556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DESPUÉS (Propuesta B)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274320" y="1664208"/>
            <a:ext cx="2743200" cy="102412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291840" y="1664208"/>
            <a:ext cx="2743200" cy="102412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989320" y="1664208"/>
            <a:ext cx="2743200" cy="102412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274320" y="1700784"/>
            <a:ext cx="594360" cy="950976"/>
          </a:xfrm>
          <a:prstGeom prst="rect">
            <a:avLst/>
          </a:prstGeom>
          <a:solidFill>
            <a:srgbClr val="1B2A4A">
              <a:alpha val="20000"/>
            </a:srgbClr>
          </a:solidFill>
          <a:ln w="12700" cap="flat" cmpd="sng">
            <a:solidFill>
              <a:srgbClr val="1B2A4A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274320" y="1700784"/>
            <a:ext cx="5943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Georgia"/>
              <a:buNone/>
            </a:pPr>
            <a:r>
              <a:rPr lang="en-US" sz="9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PISO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960120" y="175564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12 camas UCI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960120" y="2011680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6 camas UCIN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960120" y="226771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Sin cambio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337560" y="1737360"/>
            <a:ext cx="640080" cy="219456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3337560" y="1737360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CAMBIO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337560" y="201168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✓ Se mantiene sin modificaciones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080760" y="175564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12 camas UCI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080760" y="20116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6 camas UCIN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080760" y="226771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(igual que actual)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274320" y="2779776"/>
            <a:ext cx="2743200" cy="10241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3291840" y="2779776"/>
            <a:ext cx="2743200" cy="10241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5989320" y="2779776"/>
            <a:ext cx="2743200" cy="10241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274320" y="2816352"/>
            <a:ext cx="594360" cy="950976"/>
          </a:xfrm>
          <a:prstGeom prst="rect">
            <a:avLst/>
          </a:prstGeom>
          <a:solidFill>
            <a:srgbClr val="1B2A4A">
              <a:alpha val="20000"/>
            </a:srgbClr>
          </a:solidFill>
          <a:ln w="12700" cap="flat" cmpd="sng">
            <a:solidFill>
              <a:srgbClr val="1B2A4A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274320" y="2816352"/>
            <a:ext cx="5943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Georgia"/>
              <a:buNone/>
            </a:pPr>
            <a:r>
              <a:rPr lang="en-US" sz="9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PISO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960120" y="2871216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22 camas HOSPI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3337560" y="2852928"/>
            <a:ext cx="640080" cy="219456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3337560" y="285292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+3 CAMAS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3337560" y="312724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lang="en-US" sz="850" b="0" i="1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+ 3 camas HOSPI </a:t>
            </a:r>
            <a:r>
              <a:rPr lang="en-US" sz="850" b="0" i="1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adicionales</a:t>
            </a:r>
            <a:r>
              <a:rPr lang="en-US" sz="850" b="0" i="1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850" b="0" i="1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absorver</a:t>
            </a:r>
            <a:r>
              <a:rPr lang="en-US" sz="850" b="0" i="1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50" b="0" i="1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demanda</a:t>
            </a:r>
            <a:r>
              <a:rPr lang="en-US" sz="850" b="0" i="1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50" b="0" i="1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reubicada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080760" y="287121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25 camas HOSPI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080760" y="312724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★ (+3 camas)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274320" y="3895344"/>
            <a:ext cx="2743200" cy="102412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3291840" y="3895344"/>
            <a:ext cx="2743200" cy="102412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5989320" y="3895344"/>
            <a:ext cx="2743200" cy="102412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274320" y="3931920"/>
            <a:ext cx="594360" cy="950976"/>
          </a:xfrm>
          <a:prstGeom prst="rect">
            <a:avLst/>
          </a:prstGeom>
          <a:solidFill>
            <a:srgbClr val="1B2A4A">
              <a:alpha val="20000"/>
            </a:srgbClr>
          </a:solidFill>
          <a:ln w="12700" cap="flat" cmpd="sng">
            <a:solidFill>
              <a:srgbClr val="1B2A4A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274320" y="3931920"/>
            <a:ext cx="5943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Georgia"/>
              <a:buNone/>
            </a:pPr>
            <a:r>
              <a:rPr lang="en-US" sz="9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PISO 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960120" y="3986784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8 camas UCIN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960120" y="4242816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4 → pacientes HOSPI ⚠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960120" y="449884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4 → pacientes UCIN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3337560" y="3976116"/>
            <a:ext cx="685800" cy="21945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3337560" y="3968496"/>
            <a:ext cx="71405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lang="en-US" sz="6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sz="6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3337560" y="4242816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Eliminar UCIN. Crear 6 camas VIP/Libre Elección. Eliminar 1 Auxiliar Enf.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080760" y="3986784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6 camas VIP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080760" y="424281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Tarifa: $591,093/día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6080760" y="449884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★ Margen: +$291,496/cama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274320" y="4757133"/>
            <a:ext cx="8595360" cy="320040"/>
          </a:xfrm>
          <a:prstGeom prst="rect">
            <a:avLst/>
          </a:prstGeom>
          <a:solidFill>
            <a:srgbClr val="C9A84C">
              <a:alpha val="14901"/>
            </a:srgbClr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365760" y="469087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⭐ VIP = Tarifa base HOSPI $291,093 + Recargo libre elección $300,000 = $591,093/día  ·  Costo ≈ HOSPI ($299,597)  ·  Margen neto: +$291,496/cama/día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A0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4A0A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ANÁLISIS FINANCIERO COMPARATIVO · A vs. B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274320" y="1115568"/>
            <a:ext cx="2743200" cy="438912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274320" y="111556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3154680" y="1115568"/>
            <a:ext cx="1920240" cy="43891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3154680" y="111556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SITUACIÓN A (Actual)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166360" y="1115568"/>
            <a:ext cx="1920240" cy="438912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5166360" y="111556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 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7178040" y="1115568"/>
            <a:ext cx="1920240" cy="438912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7178040" y="111556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VARIACIÓN (B-A)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74320" y="1664208"/>
            <a:ext cx="274320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3154680" y="1664208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5166360" y="1664208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7178040" y="1664208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384048" y="168249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Camas UCI (Piso 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200400" y="16824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12 camas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212080" y="16824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12 camas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7223760" y="16824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Sin cambio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274320" y="1979676"/>
            <a:ext cx="274320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3154680" y="1979676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166360" y="1979676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7178040" y="1979676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274320" y="1979676"/>
            <a:ext cx="45720" cy="292608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384048" y="199796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Camas UCIN (Piso 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3200400" y="19979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 camas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5212080" y="19979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 camas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7223760" y="19979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Sin cambio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274320" y="2295144"/>
            <a:ext cx="274320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3154680" y="2295144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5166360" y="2295144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7178040" y="2295144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6"/>
          <p:cNvSpPr/>
          <p:nvPr/>
        </p:nvSpPr>
        <p:spPr>
          <a:xfrm>
            <a:off x="274320" y="2295144"/>
            <a:ext cx="45720" cy="292608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384048" y="23134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Camas HOSPI (Piso 3)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3200400" y="23134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22 camas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5212080" y="23134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25 camas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7223760" y="23134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+3 camas ▲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274320" y="2610612"/>
            <a:ext cx="274320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3154680" y="2610612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5166360" y="2610612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7178040" y="2610612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274320" y="2610612"/>
            <a:ext cx="45720" cy="292608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384048" y="26289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Camas UCIN / VIP (Piso 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3200400" y="26289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8 UCIN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5212080" y="26289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 VIP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7223760" y="26289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Conversión ★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274320" y="2926080"/>
            <a:ext cx="274320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3154680" y="2926080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166360" y="2926080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7178040" y="2926080"/>
            <a:ext cx="19202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274320" y="2926080"/>
            <a:ext cx="45720" cy="292608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384048" y="29443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Ingresos Totales / día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200400" y="29443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$23,085,072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5212080" y="29443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$24,641,286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7223760" y="29443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+$1,556,214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274320" y="3241548"/>
            <a:ext cx="274320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3154680" y="3241548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5166360" y="3241548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7178040" y="3241548"/>
            <a:ext cx="1920240" cy="29260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274320" y="3241548"/>
            <a:ext cx="45720" cy="292608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384048" y="32598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Costos Totales / día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3200400" y="32598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$38,044,696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5212080" y="32598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$30,316,382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7223760" y="32598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-$7,728,314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74320" y="3557016"/>
            <a:ext cx="274320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3154680" y="3557016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5166360" y="3557016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7178040" y="3557016"/>
            <a:ext cx="1920240" cy="292608"/>
          </a:xfrm>
          <a:prstGeom prst="rect">
            <a:avLst/>
          </a:prstGeom>
          <a:solidFill>
            <a:srgbClr val="FFF3CD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274320" y="3557016"/>
            <a:ext cx="45720" cy="292608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384048" y="357530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MARGEN TOTAL / DÍA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3200400" y="35753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-$14,959,624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5212080" y="35753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-$5,675,096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7223760" y="35753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+$9,284,528 ▲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274320" y="3872484"/>
            <a:ext cx="274320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3154680" y="3872484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5166360" y="3872484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7178040" y="3872484"/>
            <a:ext cx="1920240" cy="292608"/>
          </a:xfrm>
          <a:prstGeom prst="rect">
            <a:avLst/>
          </a:prstGeom>
          <a:solidFill>
            <a:srgbClr val="FFF3CD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274320" y="3872484"/>
            <a:ext cx="45720" cy="292608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384048" y="389077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MARGEN MENSUAL (×30)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3200400" y="38907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-$448.8M COP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5212080" y="38907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-$170.3M COP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7223760" y="38907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+$278.5M ▲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274320" y="4187952"/>
            <a:ext cx="274320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3154680" y="4187952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5166360" y="4187952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178040" y="4187952"/>
            <a:ext cx="1920240" cy="292608"/>
          </a:xfrm>
          <a:prstGeom prst="rect">
            <a:avLst/>
          </a:prstGeom>
          <a:solidFill>
            <a:srgbClr val="FFF3CD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274320" y="4187952"/>
            <a:ext cx="45720" cy="292608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384048" y="4206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MARGEN ANUAL (×365)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3200400" y="4206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-$5,460M COP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5212080" y="4206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-$2,071M COP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7223760" y="42062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+$3,389M ▲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274320" y="4503420"/>
            <a:ext cx="274320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3154680" y="4503420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6"/>
          <p:cNvSpPr/>
          <p:nvPr/>
        </p:nvSpPr>
        <p:spPr>
          <a:xfrm>
            <a:off x="5166360" y="4503420"/>
            <a:ext cx="1920240" cy="292608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6"/>
          <p:cNvSpPr/>
          <p:nvPr/>
        </p:nvSpPr>
        <p:spPr>
          <a:xfrm>
            <a:off x="7178040" y="4503420"/>
            <a:ext cx="1920240" cy="292608"/>
          </a:xfrm>
          <a:prstGeom prst="rect">
            <a:avLst/>
          </a:prstGeom>
          <a:solidFill>
            <a:srgbClr val="FFF3CD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274320" y="4503420"/>
            <a:ext cx="45720" cy="292608"/>
          </a:xfrm>
          <a:prstGeom prst="rect">
            <a:avLst/>
          </a:prstGeom>
          <a:solidFill>
            <a:srgbClr val="1E7E34"/>
          </a:solidFill>
          <a:ln w="12700" cap="flat" cmpd="sng">
            <a:solidFill>
              <a:srgbClr val="1E7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384048" y="45217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+ Ahorro Auxiliar Enf./mes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3200400" y="45217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5212080" y="45217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lang="en-US" sz="950" b="1" i="0" u="none" strike="noStrike" cap="none" dirty="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$2,100,000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7223760" y="45217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50"/>
              <a:buFont typeface="Calibri"/>
              <a:buNone/>
            </a:pPr>
            <a:r>
              <a:rPr lang="en-US" sz="950" b="1" i="0" u="none" strike="noStrike" cap="none" dirty="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+$2,100,000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228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ESTRATEGIA VIP · EFICIENCIA OPERATIVA · PERSONAL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274320" y="1115568"/>
            <a:ext cx="4206240" cy="36576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320040" y="11155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F0C96E"/>
                </a:solidFill>
                <a:latin typeface="Georgia"/>
                <a:ea typeface="Georgia"/>
                <a:cs typeface="Georgia"/>
                <a:sym typeface="Georgia"/>
              </a:rPr>
              <a:t>★ DESGLOSE DE TARIFA VIP / DÍA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274320" y="1572768"/>
            <a:ext cx="4206240" cy="310896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411480" y="16002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Tarifa HOSPI base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3108960" y="160020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$291,093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74320" y="1920240"/>
            <a:ext cx="4206240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411480" y="1947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+ Recargo libre elección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3108960" y="194767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+$300,000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274320" y="2267712"/>
            <a:ext cx="4206240" cy="310896"/>
          </a:xfrm>
          <a:prstGeom prst="rect">
            <a:avLst/>
          </a:prstGeom>
          <a:solidFill>
            <a:srgbClr val="FFF3CD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411480" y="229514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= TARIFA VIP TOTAL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3108960" y="229514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$591,093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274320" y="2615184"/>
            <a:ext cx="4206240" cy="310896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411480" y="264261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Costo operativo VIP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3108960" y="264261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$299,597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274320" y="2962656"/>
            <a:ext cx="4206240" cy="310896"/>
          </a:xfrm>
          <a:prstGeom prst="rect">
            <a:avLst/>
          </a:prstGeom>
          <a:solidFill>
            <a:srgbClr val="A9DFB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411480" y="299008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MARGEN NETO / cama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3108960" y="299008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+$291,496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274320" y="3310128"/>
            <a:ext cx="4206240" cy="310896"/>
          </a:xfrm>
          <a:prstGeom prst="rect">
            <a:avLst/>
          </a:prstGeom>
          <a:solidFill>
            <a:srgbClr val="A9DFB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411480" y="33375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MARGEN TOTAL (6 camas/día)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3108960" y="333756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+$1,748,976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4754880" y="1115568"/>
            <a:ext cx="4114800" cy="36576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4800600" y="111556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A0A5"/>
              </a:buClr>
              <a:buSzPts val="1050"/>
              <a:buFont typeface="Georgia"/>
              <a:buNone/>
            </a:pPr>
            <a:r>
              <a:rPr lang="en-US" sz="1050" b="1" i="0" u="none" strike="noStrike" cap="none">
                <a:solidFill>
                  <a:srgbClr val="14A0A5"/>
                </a:solidFill>
                <a:latin typeface="Georgia"/>
                <a:ea typeface="Georgia"/>
                <a:cs typeface="Georgia"/>
                <a:sym typeface="Georgia"/>
              </a:rPr>
              <a:t>↻ GIRO DE CAMA MENSUAL (85% ocupación)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4754880" y="1572768"/>
            <a:ext cx="1097280" cy="274320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7"/>
          <p:cNvSpPr/>
          <p:nvPr/>
        </p:nvSpPr>
        <p:spPr>
          <a:xfrm>
            <a:off x="4754880" y="15727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5897880" y="1572768"/>
            <a:ext cx="731520" cy="274320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5897880" y="15727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Estancia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6675120" y="1572768"/>
            <a:ext cx="731520" cy="274320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6675120" y="15727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Giro 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7452360" y="1572768"/>
            <a:ext cx="731520" cy="274320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7452360" y="15727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Giro 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8229600" y="1572768"/>
            <a:ext cx="731520" cy="274320"/>
          </a:xfrm>
          <a:prstGeom prst="rect">
            <a:avLst/>
          </a:prstGeom>
          <a:solidFill>
            <a:srgbClr val="2D3748"/>
          </a:solidFill>
          <a:ln w="12700" cap="flat" cmpd="sng">
            <a:solidFill>
              <a:srgbClr val="2D37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8229600" y="15727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4754880" y="1901952"/>
            <a:ext cx="109728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4800600" y="192024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 (P2)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5897880" y="190195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5943600" y="192024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7d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6675120" y="190195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7"/>
          <p:cNvSpPr/>
          <p:nvPr/>
        </p:nvSpPr>
        <p:spPr>
          <a:xfrm>
            <a:off x="6720840" y="192024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7452360" y="190195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7498080" y="192024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8229600" y="190195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7"/>
          <p:cNvSpPr/>
          <p:nvPr/>
        </p:nvSpPr>
        <p:spPr>
          <a:xfrm>
            <a:off x="8275320" y="192024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4754880" y="2221992"/>
            <a:ext cx="109728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4800600" y="224028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UCIN (P2)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5897880" y="222199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5943600" y="224028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6675120" y="222199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7"/>
          <p:cNvSpPr/>
          <p:nvPr/>
        </p:nvSpPr>
        <p:spPr>
          <a:xfrm>
            <a:off x="6720840" y="224028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7452360" y="222199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7"/>
          <p:cNvSpPr/>
          <p:nvPr/>
        </p:nvSpPr>
        <p:spPr>
          <a:xfrm>
            <a:off x="7498080" y="224028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8229600" y="222199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8275320" y="224028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4754880" y="2542032"/>
            <a:ext cx="109728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"/>
          <p:cNvSpPr/>
          <p:nvPr/>
        </p:nvSpPr>
        <p:spPr>
          <a:xfrm>
            <a:off x="4800600" y="256032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HOSPI (P3)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5897880" y="254203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5943600" y="256032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4d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6675120" y="254203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6720840" y="256032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7452360" y="254203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7"/>
          <p:cNvSpPr/>
          <p:nvPr/>
        </p:nvSpPr>
        <p:spPr>
          <a:xfrm>
            <a:off x="7498080" y="256032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8229600" y="2542032"/>
            <a:ext cx="731520" cy="274320"/>
          </a:xfrm>
          <a:prstGeom prst="rect">
            <a:avLst/>
          </a:prstGeom>
          <a:solidFill>
            <a:srgbClr val="F4F6F8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7"/>
          <p:cNvSpPr/>
          <p:nvPr/>
        </p:nvSpPr>
        <p:spPr>
          <a:xfrm>
            <a:off x="8275320" y="256032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4754880" y="2862072"/>
            <a:ext cx="109728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4800600" y="288036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UCIN→VIP (P5)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5897880" y="286207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7"/>
          <p:cNvSpPr/>
          <p:nvPr/>
        </p:nvSpPr>
        <p:spPr>
          <a:xfrm>
            <a:off x="5943600" y="288036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4-5d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6675120" y="286207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7"/>
          <p:cNvSpPr/>
          <p:nvPr/>
        </p:nvSpPr>
        <p:spPr>
          <a:xfrm>
            <a:off x="6720840" y="288036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5.1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7452360" y="286207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7"/>
          <p:cNvSpPr/>
          <p:nvPr/>
        </p:nvSpPr>
        <p:spPr>
          <a:xfrm>
            <a:off x="7498080" y="288036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6.4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8229600" y="2862072"/>
            <a:ext cx="7315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7"/>
          <p:cNvSpPr/>
          <p:nvPr/>
        </p:nvSpPr>
        <p:spPr>
          <a:xfrm>
            <a:off x="8275320" y="288036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+1.3 ▲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solidFill>
            <a:srgbClr val="1E7E34"/>
          </a:solidFill>
          <a:ln w="12700" cap="flat" cmpd="sng">
            <a:solidFill>
              <a:srgbClr val="1E7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7"/>
          <p:cNvSpPr/>
          <p:nvPr/>
        </p:nvSpPr>
        <p:spPr>
          <a:xfrm>
            <a:off x="4800600" y="32461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👥 AHORRO EN PERSONAL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4754880" y="3675888"/>
            <a:ext cx="4114800" cy="329184"/>
          </a:xfrm>
          <a:prstGeom prst="rect">
            <a:avLst/>
          </a:prstGeom>
          <a:solidFill>
            <a:srgbClr val="A9DFB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7"/>
          <p:cNvSpPr/>
          <p:nvPr/>
        </p:nvSpPr>
        <p:spPr>
          <a:xfrm>
            <a:off x="4846320" y="37033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Cargo eliminado: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6080760" y="37033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1 Auxiliar de Enfermería (Piso 5)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8211312" y="3721608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00"/>
              <a:buFont typeface="Calibri"/>
              <a:buNone/>
            </a:pPr>
            <a:r>
              <a:rPr lang="en-US" sz="70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Reducción de complejidad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4754880" y="4059936"/>
            <a:ext cx="411480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7"/>
          <p:cNvSpPr/>
          <p:nvPr/>
        </p:nvSpPr>
        <p:spPr>
          <a:xfrm>
            <a:off x="4846320" y="40873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Ahorro mensual: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6080760" y="40873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~$2,100,000 COP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8211312" y="4105656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00"/>
              <a:buFont typeface="Calibri"/>
              <a:buNone/>
            </a:pPr>
            <a:r>
              <a:rPr lang="en-US" sz="70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n-US" sz="700" b="0" i="1" u="none" strike="noStrike" cap="none" dirty="0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0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Incl</a:t>
            </a:r>
            <a:r>
              <a:rPr lang="en-US" sz="700" b="0" i="1" u="none" strike="noStrike" cap="none" dirty="0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700" b="0" i="1" u="none" strike="noStrike" cap="none" dirty="0" err="1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prestaciones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4754880" y="4443984"/>
            <a:ext cx="4114800" cy="329184"/>
          </a:xfrm>
          <a:prstGeom prst="rect">
            <a:avLst/>
          </a:prstGeom>
          <a:solidFill>
            <a:srgbClr val="A9DFBF"/>
          </a:solidFill>
          <a:ln w="95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4846320" y="44714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Ahorro anual: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6080760" y="44714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~$25,200,000 COP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8211312" y="448970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8AA"/>
              </a:buClr>
              <a:buSzPts val="700"/>
              <a:buFont typeface="Calibri"/>
              <a:buNone/>
            </a:pPr>
            <a:r>
              <a:rPr lang="en-US" sz="700" b="0" i="1" u="none" strike="noStrike" cap="none">
                <a:solidFill>
                  <a:srgbClr val="8898AA"/>
                </a:solidFill>
                <a:latin typeface="Calibri"/>
                <a:ea typeface="Calibri"/>
                <a:cs typeface="Calibri"/>
                <a:sym typeface="Calibri"/>
              </a:rPr>
              <a:t>Estimado conservador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"/>
          <p:cNvSpPr/>
          <p:nvPr/>
        </p:nvSpPr>
        <p:spPr>
          <a:xfrm>
            <a:off x="6583680" y="-457200"/>
            <a:ext cx="4572000" cy="4572000"/>
          </a:xfrm>
          <a:prstGeom prst="ellipse">
            <a:avLst/>
          </a:prstGeom>
          <a:solidFill>
            <a:srgbClr val="0D7377">
              <a:alpha val="10196"/>
            </a:srgbClr>
          </a:solidFill>
          <a:ln w="12700" cap="flat" cmpd="sng">
            <a:solidFill>
              <a:srgbClr val="0D7377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C9A84C">
              <a:alpha val="7843"/>
            </a:srgbClr>
          </a:solidFill>
          <a:ln w="12700" cap="flat" cmpd="sng">
            <a:solidFill>
              <a:srgbClr val="C9A84C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8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C96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347472" y="65836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CONCLUSIONES Y RECOMENDACIONES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47472" y="1298448"/>
            <a:ext cx="8412480" cy="594360"/>
          </a:xfrm>
          <a:prstGeom prst="rect">
            <a:avLst/>
          </a:prstGeom>
          <a:solidFill>
            <a:srgbClr val="0D7377">
              <a:alpha val="85098"/>
            </a:srgbClr>
          </a:solidFill>
          <a:ln w="12700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8"/>
          <p:cNvSpPr/>
          <p:nvPr/>
        </p:nvSpPr>
        <p:spPr>
          <a:xfrm>
            <a:off x="457200" y="1298448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✅  VEREDICTO: LA PROPUESTA B ES FINANCIERAMENTE VIABLE Y ESTRATÉGICAMENTE RECOMENDADA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347472" y="2011680"/>
            <a:ext cx="8412480" cy="457200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D7377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347472" y="2011680"/>
            <a:ext cx="384048" cy="45720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347472" y="201168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804672" y="2066544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Elimina pérdida estructural de -$32.9M/mes por estancia inapropiada (Piso 5)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347472" y="2542032"/>
            <a:ext cx="8412480" cy="457200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C9A84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"/>
          <p:cNvSpPr/>
          <p:nvPr/>
        </p:nvSpPr>
        <p:spPr>
          <a:xfrm>
            <a:off x="347472" y="2542032"/>
            <a:ext cx="384048" cy="4572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8"/>
          <p:cNvSpPr/>
          <p:nvPr/>
        </p:nvSpPr>
        <p:spPr>
          <a:xfrm>
            <a:off x="347472" y="2542032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804672" y="2596896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Camas VIP generan +$291,496/cama/día vs -$274,029/cama con modelo actual (Piso 5)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347472" y="3072384"/>
            <a:ext cx="8412480" cy="457200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D7377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347472" y="3072384"/>
            <a:ext cx="384048" cy="45720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347472" y="3072384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804672" y="3127248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Mejora el margen total diario en +$9,284,528 (+$278.5M/mes; +$3,389M/año)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347472" y="3602736"/>
            <a:ext cx="8412480" cy="457200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14A0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347472" y="3602736"/>
            <a:ext cx="384048" cy="457200"/>
          </a:xfrm>
          <a:prstGeom prst="rect">
            <a:avLst/>
          </a:prstGeom>
          <a:solidFill>
            <a:srgbClr val="14A0A5"/>
          </a:solidFill>
          <a:ln w="12700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347472" y="3602736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804672" y="3657600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Ahorro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personal: ~$25,2M COP/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reducción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Piso 5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347472" y="4133088"/>
            <a:ext cx="8412480" cy="457200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C9A84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8"/>
          <p:cNvSpPr/>
          <p:nvPr/>
        </p:nvSpPr>
        <p:spPr>
          <a:xfrm>
            <a:off x="347472" y="4133088"/>
            <a:ext cx="384048" cy="45720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347472" y="413308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804672" y="4187952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UCI (Piso 2) mantiene déficit de -$409,982/cama/día → requiere renegociación tarifaria urgente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9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9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PRÓXIMOS PASOS Y PLAN DE ACCIÓN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274320" y="1115568"/>
            <a:ext cx="2743200" cy="59436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9"/>
          <p:cNvSpPr/>
          <p:nvPr/>
        </p:nvSpPr>
        <p:spPr>
          <a:xfrm>
            <a:off x="365760" y="111556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INMEDIATO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(0-30 días)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3017520" y="1335024"/>
            <a:ext cx="201168" cy="146304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9"/>
          <p:cNvSpPr/>
          <p:nvPr/>
        </p:nvSpPr>
        <p:spPr>
          <a:xfrm>
            <a:off x="274320" y="1801368"/>
            <a:ext cx="2743200" cy="228600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274320" y="1801368"/>
            <a:ext cx="2743200" cy="457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411480" y="1993392"/>
            <a:ext cx="201168" cy="201168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411480" y="19933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685800" y="1956816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Apro</a:t>
            </a:r>
            <a:r>
              <a:rPr lang="en-US" sz="950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950" b="0" i="0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ación</a:t>
            </a:r>
            <a:r>
              <a:rPr lang="en-US" sz="950" b="0" i="0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0" i="0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gerencial</a:t>
            </a:r>
            <a:r>
              <a:rPr lang="en-US" sz="950" b="0" i="0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950" b="0" i="0" u="none" strike="noStrike" cap="none" dirty="0" err="1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comité</a:t>
            </a:r>
            <a:r>
              <a:rPr lang="en-US" sz="950" b="0" i="0" u="none" strike="noStrike" cap="none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prexo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411480" y="2651760"/>
            <a:ext cx="201168" cy="201168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411480" y="26517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685800" y="261518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Notificación a equipo de Enfermería Piso 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411480" y="3310128"/>
            <a:ext cx="201168" cy="201168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411480" y="33101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685800" y="327355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Definición de tarifas VIP con contrato modelo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3218688" y="1115568"/>
            <a:ext cx="2743200" cy="59436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3310128" y="111556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CORTO PLAZO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(1-3 meses)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5961888" y="1335024"/>
            <a:ext cx="201168" cy="146304"/>
          </a:xfrm>
          <a:prstGeom prst="rect">
            <a:avLst/>
          </a:prstGeom>
          <a:solidFill>
            <a:srgbClr val="E8ECF0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9"/>
          <p:cNvSpPr/>
          <p:nvPr/>
        </p:nvSpPr>
        <p:spPr>
          <a:xfrm>
            <a:off x="3218688" y="1801368"/>
            <a:ext cx="2743200" cy="228600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3218688" y="1801368"/>
            <a:ext cx="2743200" cy="45720"/>
          </a:xfrm>
          <a:prstGeom prst="rect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/>
          <p:nvPr/>
        </p:nvSpPr>
        <p:spPr>
          <a:xfrm>
            <a:off x="3355848" y="1993392"/>
            <a:ext cx="201168" cy="201168"/>
          </a:xfrm>
          <a:prstGeom prst="ellipse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3355848" y="19933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3630168" y="1956816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Adaptación física Piso 5 para estándar VIP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3355848" y="2651760"/>
            <a:ext cx="201168" cy="201168"/>
          </a:xfrm>
          <a:prstGeom prst="ellipse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3355848" y="26517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3630168" y="261518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Proceso selección/reestructuración personal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3355848" y="3310128"/>
            <a:ext cx="201168" cy="201168"/>
          </a:xfrm>
          <a:prstGeom prst="ellipse">
            <a:avLst/>
          </a:prstGeom>
          <a:solidFill>
            <a:srgbClr val="C9A84C"/>
          </a:solidFill>
          <a:ln w="12700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3355848" y="33101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3630168" y="327355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Inicio gestión con aseguradores camas HOSPI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6163056" y="1115568"/>
            <a:ext cx="2743200" cy="59436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6254496" y="111556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MEDIANO PLAZO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(3-6 meses)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6163056" y="1801368"/>
            <a:ext cx="2743200" cy="2286000"/>
          </a:xfrm>
          <a:prstGeom prst="rect">
            <a:avLst/>
          </a:prstGeom>
          <a:solidFill>
            <a:srgbClr val="F4F6F8"/>
          </a:solidFill>
          <a:ln w="12700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>
            <a:off x="6163056" y="1801368"/>
            <a:ext cx="2743200" cy="45720"/>
          </a:xfrm>
          <a:prstGeom prst="rect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6300216" y="1993392"/>
            <a:ext cx="201168" cy="201168"/>
          </a:xfrm>
          <a:prstGeom prst="ellipse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6300216" y="19933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6574536" y="1956816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Operación plena camas VIP / Libre Elección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6300216" y="2651760"/>
            <a:ext cx="201168" cy="201168"/>
          </a:xfrm>
          <a:prstGeom prst="ellipse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6300216" y="26517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6574536" y="261518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Monitoreo de indicadores: ocupación, giro cama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6300216" y="3310128"/>
            <a:ext cx="201168" cy="201168"/>
          </a:xfrm>
          <a:prstGeom prst="ellipse">
            <a:avLst/>
          </a:prstGeom>
          <a:solidFill>
            <a:srgbClr val="0D7377"/>
          </a:solidFill>
          <a:ln w="12700" cap="flat" cmpd="sng">
            <a:solidFill>
              <a:srgbClr val="0D73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6300216" y="33101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6574536" y="327355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Renegociación tarifaria UCI con EPS/Seguros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457200" y="43891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9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0C96E"/>
                </a:solidFill>
                <a:latin typeface="Calibri"/>
                <a:ea typeface="Calibri"/>
                <a:cs typeface="Calibri"/>
                <a:sym typeface="Calibri"/>
              </a:rPr>
              <a:t>INDICADORES A MONITOREAR: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2514600" y="4407408"/>
            <a:ext cx="1188720" cy="420624"/>
          </a:xfrm>
          <a:prstGeom prst="rect">
            <a:avLst/>
          </a:prstGeom>
          <a:solidFill>
            <a:srgbClr val="0D7377">
              <a:alpha val="70196"/>
            </a:srgbClr>
          </a:solidFill>
          <a:ln w="9525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2514600" y="440740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Estancia Inapropiada → 0%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3794760" y="4407408"/>
            <a:ext cx="1188720" cy="420624"/>
          </a:xfrm>
          <a:prstGeom prst="rect">
            <a:avLst/>
          </a:prstGeom>
          <a:solidFill>
            <a:srgbClr val="0D7377">
              <a:alpha val="70196"/>
            </a:srgbClr>
          </a:solidFill>
          <a:ln w="9525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3794760" y="440740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Giro Cama VIP → 6.4/mes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5074920" y="4407408"/>
            <a:ext cx="1188720" cy="420624"/>
          </a:xfrm>
          <a:prstGeom prst="rect">
            <a:avLst/>
          </a:prstGeom>
          <a:solidFill>
            <a:srgbClr val="0D7377">
              <a:alpha val="70196"/>
            </a:srgbClr>
          </a:solidFill>
          <a:ln w="9525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9"/>
          <p:cNvSpPr/>
          <p:nvPr/>
        </p:nvSpPr>
        <p:spPr>
          <a:xfrm>
            <a:off x="5074920" y="440740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Ocupación Total → 85%+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6355080" y="4407408"/>
            <a:ext cx="1188720" cy="420624"/>
          </a:xfrm>
          <a:prstGeom prst="rect">
            <a:avLst/>
          </a:prstGeom>
          <a:solidFill>
            <a:srgbClr val="0D7377">
              <a:alpha val="70196"/>
            </a:srgbClr>
          </a:solidFill>
          <a:ln w="9525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9"/>
          <p:cNvSpPr/>
          <p:nvPr/>
        </p:nvSpPr>
        <p:spPr>
          <a:xfrm>
            <a:off x="6355080" y="440740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Margen VIP → +$291K/cama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7635240" y="4407408"/>
            <a:ext cx="1188720" cy="420624"/>
          </a:xfrm>
          <a:prstGeom prst="rect">
            <a:avLst/>
          </a:prstGeom>
          <a:solidFill>
            <a:srgbClr val="0D7377">
              <a:alpha val="70196"/>
            </a:srgbClr>
          </a:solidFill>
          <a:ln w="9525" cap="flat" cmpd="sng">
            <a:solidFill>
              <a:srgbClr val="14A0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9"/>
          <p:cNvSpPr/>
          <p:nvPr/>
        </p:nvSpPr>
        <p:spPr>
          <a:xfrm>
            <a:off x="7635240" y="440740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UCI: revisión tarifaria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c542a1e-7e40-4548-bd30-f4ac2065bf7b">
      <Terms xmlns="http://schemas.microsoft.com/office/infopath/2007/PartnerControls"/>
    </lcf76f155ced4ddcb4097134ff3c332f>
    <TaxCatchAll xmlns="62868172-a01b-4e2e-9a81-3353decca5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F584F3D8E28249AA284CB79E7AED75" ma:contentTypeVersion="13" ma:contentTypeDescription="Create a new document." ma:contentTypeScope="" ma:versionID="c56b13984435a3dac3b1b347243a7418">
  <xsd:schema xmlns:xsd="http://www.w3.org/2001/XMLSchema" xmlns:xs="http://www.w3.org/2001/XMLSchema" xmlns:p="http://schemas.microsoft.com/office/2006/metadata/properties" xmlns:ns2="6c542a1e-7e40-4548-bd30-f4ac2065bf7b" xmlns:ns3="62868172-a01b-4e2e-9a81-3353decca547" targetNamespace="http://schemas.microsoft.com/office/2006/metadata/properties" ma:root="true" ma:fieldsID="e0b1d63faf1c697f320e11994e0fcfba" ns2:_="" ns3:_="">
    <xsd:import namespace="6c542a1e-7e40-4548-bd30-f4ac2065bf7b"/>
    <xsd:import namespace="62868172-a01b-4e2e-9a81-3353decca5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542a1e-7e40-4548-bd30-f4ac2065bf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4ec83e1-e8f5-41c9-a618-4bc590dec4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68172-a01b-4e2e-9a81-3353decca54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118cdd-5b00-4f8c-b6fb-76e81c7a68e4}" ma:internalName="TaxCatchAll" ma:showField="CatchAllData" ma:web="62868172-a01b-4e2e-9a81-3353decca5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90635A-20C1-40E6-90D0-854DA93264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1FA3AC-7DD8-48D3-A096-0DA2D5733981}">
  <ds:schemaRefs>
    <ds:schemaRef ds:uri="http://schemas.microsoft.com/office/2006/metadata/properties"/>
    <ds:schemaRef ds:uri="http://schemas.microsoft.com/office/infopath/2007/PartnerControls"/>
    <ds:schemaRef ds:uri="6c542a1e-7e40-4548-bd30-f4ac2065bf7b"/>
    <ds:schemaRef ds:uri="62868172-a01b-4e2e-9a81-3353decca547"/>
  </ds:schemaRefs>
</ds:datastoreItem>
</file>

<file path=customXml/itemProps3.xml><?xml version="1.0" encoding="utf-8"?>
<ds:datastoreItem xmlns:ds="http://schemas.openxmlformats.org/officeDocument/2006/customXml" ds:itemID="{A88140D0-20C0-4595-9F4A-F12CCF8223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542a1e-7e40-4548-bd30-f4ac2065bf7b"/>
    <ds:schemaRef ds:uri="62868172-a01b-4e2e-9a81-3353decca5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1112</Words>
  <Application>Microsoft Macintosh PowerPoint</Application>
  <PresentationFormat>Presentación en pantalla (16:9)</PresentationFormat>
  <Paragraphs>290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Dirección Médica &amp; Financiera</dc:creator>
  <cp:lastModifiedBy>Dime Clínica Neurocardiovascular</cp:lastModifiedBy>
  <cp:revision>3</cp:revision>
  <dcterms:created xsi:type="dcterms:W3CDTF">2026-03-12T22:33:35Z</dcterms:created>
  <dcterms:modified xsi:type="dcterms:W3CDTF">2026-03-16T14:57:07Z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0x010100E1F584F3D8E28249AA284CB79E7AED75</vt:lpwstr>
  </property>
  <property fmtid="{D5CDD505-2E9C-101B-9397-08002B2CF9AE}" pid="3" name="MediaServiceImageTags">
    <vt:lpwstr/>
  </property>
</Properties>
</file>