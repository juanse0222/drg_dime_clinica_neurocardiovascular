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Relationship Id="rId14" Type="http://schemas.openxmlformats.org/officeDocument/2006/relationships/slide" Target="slides/slide7.xml"/>
<Relationship Id="rId15" Type="http://schemas.openxmlformats.org/officeDocument/2006/relationships/slide" Target="slides/slide8.xml"/>
<Relationship Id="rId16" Type="http://schemas.openxmlformats.org/officeDocument/2006/relationships/slide" Target="slides/slide9.xml"/>
<Relationship Id="rId17" Type="http://schemas.openxmlformats.org/officeDocument/2006/relationships/slide" Target="slides/slide10.xml"/>
<Relationship Id="rId18" Type="http://schemas.openxmlformats.org/officeDocument/2006/relationships/slide" Target="slides/slide11.xml"/>
<Relationship Id="rId19" Type="http://schemas.openxmlformats.org/officeDocument/2006/relationships/slide" Target="slides/slide12.xml"/>
<Relationship Id="rId20" Type="http://schemas.openxmlformats.org/officeDocument/2006/relationships/slide" Target="slides/slide1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5e42a1fe9f2650adcd146c0f772cd0374cfadf6b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674bcf5039a2b8ea9fc2d3ae4ca554f528d782b3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467eb9b9014a4f7ef1769acc816fdcf2a902395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ee77c62c248b18cae42e3fbf62c4b08eda77a6b.png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b381e3f55fd721423921aa0c26749f564b0c8fc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ec414550b575d439bc15b32e73f0440f359ef0d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737e13f2a74ff132c44f5958a1ff402c1556fba7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ee09396452976fbe4f49730a2b52f1c06fc881c3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457200" y="1097280"/>
            <a:ext cx="82296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DIME Clínica Neurocardiovascular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457200" y="1737360"/>
            <a:ext cx="8229600" cy="100584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8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Giro de Cama, Estancia y Costos de Inactividad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457200" y="2926080"/>
            <a:ext cx="8229600" cy="45720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444444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Análisis 2024 – 2026  |  Junta Directiva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457200" y="3657600"/>
            <a:ext cx="8229600" cy="365760"/>
          </a:xfrm>
        </p:spPr>
        <p:txBody>
          <a:bodyPr/>
          <a:lstStyle/>
          <a:p>
            <a:pPr algn="ctr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95A5A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julio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Resumen Ejecutivo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Resumen Ejecutivo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Período: enero 2024 – junio 2026  |  GC institucional último mes: 9.06 (junio 2026)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274320" y="1234440"/>
          <a:ext cx="8412480" cy="2743200"/>
        </p:xfrm>
        <a:graphic>
          <a:graphicData uri="http://schemas.openxmlformats.org/drawingml/2006/table">
            <a:tbl>
              <a:tblPr/>
              <a:tblGrid>
                <a:gridCol w="5029200"/>
                <a:gridCol w="1828800"/>
                <a:gridCol w="82296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KPI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Valor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Semáforo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Giro de Cama institucional (prom. 2024)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8.8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🔴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Giro de Cama institucional (prom. 2025)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🔴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Giro de Cama institucional (prom. 2026*)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9.47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🔴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Meta GC institucional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LOS medio institucional 2024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LOS medio institucional 2025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LOS medio institucional 2026*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ADBD8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Días inactivos totales 2024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Días inactivos totales 2025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2151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Días inactivos totales 2026*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—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Costo inactividad EPS (acum.)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$1.448,0M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🔴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Costo inactividad IPS (acum.)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$735,4M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🔴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% Pacientes inactivos con CACI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58.7%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⚠️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Tendencia del Giro de Cama Institucional 2024-2026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Tendencia del Giro de Cama Institucional 2024-2026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Línea punteada roja = meta institucional 10 | Punto de quiebre detectado por test de Bai-Perron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Estancia Media por Servicio y Año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Estancia Media por Servicio y Año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Barra = media | Línea de error = percentil 90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Comparativo Anual — Indicadores Clave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Comparativo Anual — Indicadores Clave</a:t>
            </a:r>
          </a:p>
        </p:txBody>
      </p:sp>
      <p:graphicFrame>
        <p:nvGraphicFramePr>
          <p:cNvPr id="4" name=""/>
          <p:cNvGraphicFramePr>
            <a:graphicFrameLocks noGrp="true"/>
          </p:cNvGraphicFramePr>
          <p:nvPr/>
        </p:nvGraphicFramePr>
        <p:xfrm rot="0">
          <a:off x="274320" y="1234440"/>
          <a:ext cx="8412480" cy="27432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Año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Egresos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GC prom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LOS (d)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Inac. total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Inac. IPS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Inac. EPS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∆ GC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∆ LOS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∆ Inac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2,024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5,007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8.80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3.30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2,161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1,494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1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2,025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5,399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3.13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2,151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1,615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7.4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-5.2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-0.5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2,726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9.47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3.02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862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-3.5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1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-59.9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274320" y="566928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95A5A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Verde = mejora  |  Rojo = deterioro  |  * 2026 enero–junio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Relación entre Estancia Media y Giro de Cama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Relación entre Estancia Media y Giro de Cama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Pearson r = -0.719  |  Razón multiplicativa del modelo (Gamma GLM) = 0.9738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5029200" cy="4023360"/>
          </a:xfrm>
          <a:prstGeom prst="rect">
            <a:avLst/>
          </a:prstGeom>
        </p:spPr>
      </p:pic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5577840" y="1645920"/>
            <a:ext cx="3291840" cy="32004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1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Cada día adicional de estancia media
multiplica el Giro de Cama por 0.9738
(-2.6% de cambio).
Una reducción de 0.5 días en LOS
equivale a un incremento estimado
de ~0.4–0.6 egresos/cama por 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Estancias Inactivas — Evolución Mensual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Estancias Inactivas — Evolución Mensual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Acumulado total 2024-2026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Causas de Estancia Inactiva — Análisis de Pareto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Causas de Estancia Inactiva — Análisis de Pareto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Primeras 8 causas ordenadas por días inactivos acumulados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412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Pacientes CACI con Estancia Inactiva: 58.7%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Pacientes CACI con Estancia Inactiva: 58.7%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El 85.7% de los pacientes inactivos fueron cruzados con GRD. 43% tienen diagnóstico CACI.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5303520" cy="3657600"/>
          </a:xfrm>
          <a:prstGeom prst="rect">
            <a:avLst/>
          </a:prstGeom>
        </p:spPr>
      </p:pic>
      <p:graphicFrame>
        <p:nvGraphicFramePr>
          <p:cNvPr id="6" name=""/>
          <p:cNvGraphicFramePr>
            <a:graphicFrameLocks noGrp="true"/>
          </p:cNvGraphicFramePr>
          <p:nvPr/>
        </p:nvGraphicFramePr>
        <p:xfrm rot="0">
          <a:off x="5760720" y="1645920"/>
          <a:ext cx="3017520" cy="27432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73152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CACI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Casos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SCA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543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44.2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ICC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312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25.4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ACV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279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22.7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CARDIO_OTHER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68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5.5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TEP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TXC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5760720" y="3474720"/>
            <a:ext cx="3017520" cy="20116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0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SCA, ICC y ACV concentran
&gt;95% de los casos CACI
con estancia inactiva.
Esto vincula directamente
la gestión de inactivos
con la ruta clínica
de alta complejidad.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Impacto Económico de la Estancia Inactiva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Impacto Económico de la Estancia Inactiva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Costo/día inactivo promedio: $0,4M  |  Acumulado 2024-2026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Modelo Estadístico: Determinantes del Giro de Cama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Modelo Estadístico: Determinantes del Giro de Cama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GLM Gamma (liga log) — Respuesta: Giro de Cama institucional mensual</a:t>
            </a:r>
          </a:p>
        </p:txBody>
      </p:sp>
      <p:graphicFrame>
        <p:nvGraphicFramePr>
          <p:cNvPr id="5" name=""/>
          <p:cNvGraphicFramePr>
            <a:graphicFrameLocks noGrp="true"/>
          </p:cNvGraphicFramePr>
          <p:nvPr/>
        </p:nvGraphicFramePr>
        <p:xfrm rot="0">
          <a:off x="274320" y="1280160"/>
          <a:ext cx="8229600" cy="2743200"/>
        </p:xfrm>
        <a:graphic>
          <a:graphicData uri="http://schemas.openxmlformats.org/drawingml/2006/table">
            <a:tbl>
              <a:tblPr/>
              <a:tblGrid>
                <a:gridCol w="2743200"/>
                <a:gridCol w="1188720"/>
                <a:gridCol w="1188720"/>
                <a:gridCol w="1188720"/>
                <a:gridCol w="118872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Variable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Razón (exp)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IC 2.5%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IC 97.5%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p-valor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000" i="0" b="1" u="none" strike="noStrik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Sig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1B3A6B">
                        <a:alpha val="10000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Intercepto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C0392B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0.0370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0.0207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0.0660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Estancia media (días)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C0392B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0.9738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0.9471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1.0012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0.0727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.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Días inactivos totales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0.9999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1.0001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0.5347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log(Egresos) — control demanda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1A7A4A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2.5110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2.3047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2.7356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0.0000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***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Año 2025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C0392B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0.9978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0.9867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1.0089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0.6967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Año 2026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C0392B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0.9882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0.9744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1.0023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>0.1127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endParaRPr cap="none" sz="900" i="0" b="0" u="none" strike="noStrike">
                        <a:solidFill>
                          <a:srgbClr val="000000">
                            <a:alpha val="100000"/>
                          </a:srgbClr>
                        </a:solidFill>
                        <a:latin typeface="Calibri"/>
                        <a:cs typeface="Calibri"/>
                        <a:ea typeface="Calibri"/>
                        <a:sym typeface="Calibri"/>
                      </a:endParaRPr>
                      <a:r>
                        <a:rPr cap="none" sz="9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  <a:cs typeface="Calibri"/>
                          <a:ea typeface="Calibri"/>
                          <a:sym typeface="Calibri"/>
                        </a:rPr>
                        <a:t/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274320" y="5715000"/>
            <a:ext cx="8229600" cy="27432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900" i="1" b="0" u="none" strike="noStrike">
                <a:solidFill>
                  <a:srgbClr val="95A5A6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Razón LOS = 0.9738 | Razón Días Inactivos = 1.00003 | r(GC~LOS) = -0.719 | r(GC~Inac) = -0.119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Efecto Marginal: Estancia Media → Giro de Cama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Efecto Marginal: Estancia Media → Giro de Cama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274320" y="713232"/>
            <a:ext cx="8412480" cy="4114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200" i="0" b="0" u="none" strike="noStrike">
                <a:solidFill>
                  <a:srgbClr val="555555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Valores predichos por el modelo Gamma GLM — resto de variables fijas en su media</a:t>
            </a:r>
          </a:p>
        </p:txBody>
      </p:sp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74320" y="1234440"/>
            <a:ext cx="82296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731520"/>
          </a:xfrm>
        </p:spPr>
        <p:txBody>
          <a:bodyPr/>
          <a:lstStyle/>
          <a:p>
            <a:r>
              <a:rPr/>
              <a:t>Hallazgos y Recomendaciones Operacionales</a:t>
            </a:r>
          </a:p>
        </p:txBody>
      </p:sp>
      <p:sp>
        <p:nvSpPr>
          <p:cNvPr id="3" name=""/>
          <p:cNvSpPr>
            <a:spLocks noGrp="1"/>
          </p:cNvSpPr>
          <p:nvPr>
            <p:ph/>
          </p:nvPr>
        </p:nvSpPr>
        <p:spPr>
          <a:xfrm>
            <a:off x="274320" y="137160"/>
            <a:ext cx="8412480" cy="64008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2200" i="0" b="1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Hallazgos y Recomendaciones Operacionales</a:t>
            </a:r>
          </a:p>
        </p:txBody>
      </p:sp>
      <p:sp>
        <p:nvSpPr>
          <p:cNvPr id="4" name=""/>
          <p:cNvSpPr>
            <a:spLocks noGrp="1"/>
          </p:cNvSpPr>
          <p:nvPr>
            <p:ph/>
          </p:nvPr>
        </p:nvSpPr>
        <p:spPr>
          <a:xfrm>
            <a:off x="365760" y="82296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▶  El Giro de Cama institucional alcanzó 9.06 en junio 2026. La meta de 10 egresos/cama se logra de forma intermitente.</a:t>
            </a:r>
          </a:p>
        </p:txBody>
      </p:sp>
      <p:sp>
        <p:nvSpPr>
          <p:cNvPr id="5" name=""/>
          <p:cNvSpPr>
            <a:spLocks noGrp="1"/>
          </p:cNvSpPr>
          <p:nvPr>
            <p:ph/>
          </p:nvPr>
        </p:nvSpPr>
        <p:spPr>
          <a:xfrm>
            <a:off x="365760" y="141732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▶  Correlación negativa LOS-GC (r = -0.719): reducir la estancia es la palanca primaria de rotación.</a:t>
            </a:r>
          </a:p>
        </p:txBody>
      </p:sp>
      <p:sp>
        <p:nvSpPr>
          <p:cNvPr id="6" name=""/>
          <p:cNvSpPr>
            <a:spLocks noGrp="1"/>
          </p:cNvSpPr>
          <p:nvPr>
            <p:ph/>
          </p:nvPr>
        </p:nvSpPr>
        <p:spPr>
          <a:xfrm>
            <a:off x="365760" y="201168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▶  Días de estancia inactiva acumulados 2024-2026: 5.174. Costo IPS acum.: $735,4M.</a:t>
            </a:r>
          </a:p>
        </p:txBody>
      </p:sp>
      <p:sp>
        <p:nvSpPr>
          <p:cNvPr id="7" name=""/>
          <p:cNvSpPr>
            <a:spLocks noGrp="1"/>
          </p:cNvSpPr>
          <p:nvPr>
            <p:ph/>
          </p:nvPr>
        </p:nvSpPr>
        <p:spPr>
          <a:xfrm>
            <a:off x="365760" y="260604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0" u="none" strike="noStrike">
                <a:solidFill>
                  <a:srgbClr val="1B3A6B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▶  58.7% de los pacientes con estancia inactiva son CACI (SCA, ICC, ACV predominan) — vinculación directa con la ruta de alta complejidad.</a:t>
            </a:r>
          </a:p>
        </p:txBody>
      </p:sp>
      <p:sp>
        <p:nvSpPr>
          <p:cNvPr id="8" name=""/>
          <p:cNvSpPr>
            <a:spLocks noGrp="1"/>
          </p:cNvSpPr>
          <p:nvPr>
            <p:ph/>
          </p:nvPr>
        </p:nvSpPr>
        <p:spPr>
          <a:xfrm>
            <a:off x="365760" y="320040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1" u="none" strike="noStrike">
                <a:solidFill>
                  <a:srgbClr val="1A7A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✓  RECOM 1: Implementar alerta de inactividad &gt; 48 h por IPS con seguimiento diario en UCI/UCIN.</a:t>
            </a:r>
          </a:p>
        </p:txBody>
      </p:sp>
      <p:sp>
        <p:nvSpPr>
          <p:cNvPr id="9" name=""/>
          <p:cNvSpPr>
            <a:spLocks noGrp="1"/>
          </p:cNvSpPr>
          <p:nvPr>
            <p:ph/>
          </p:nvPr>
        </p:nvSpPr>
        <p:spPr>
          <a:xfrm>
            <a:off x="365760" y="379476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1" u="none" strike="noStrike">
                <a:solidFill>
                  <a:srgbClr val="1A7A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✓  RECOM 2: Reducir LOS en UCIN y HOSP en 0.5 días/año como meta incremental; impacto estimado: +4–6% GC.</a:t>
            </a:r>
          </a:p>
        </p:txBody>
      </p:sp>
      <p:sp>
        <p:nvSpPr>
          <p:cNvPr id="10" name=""/>
          <p:cNvSpPr>
            <a:spLocks noGrp="1"/>
          </p:cNvSpPr>
          <p:nvPr>
            <p:ph/>
          </p:nvPr>
        </p:nvSpPr>
        <p:spPr>
          <a:xfrm>
            <a:off x="365760" y="438912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1" u="none" strike="noStrike">
                <a:solidFill>
                  <a:srgbClr val="1A7A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✓  RECOM 3: Negociar con EPS tiempos de respuesta de autorización ≤ 24 h para reducir inactividad atribuible.</a:t>
            </a:r>
          </a:p>
        </p:txBody>
      </p:sp>
      <p:sp>
        <p:nvSpPr>
          <p:cNvPr id="11" name=""/>
          <p:cNvSpPr>
            <a:spLocks noGrp="1"/>
          </p:cNvSpPr>
          <p:nvPr>
            <p:ph/>
          </p:nvPr>
        </p:nvSpPr>
        <p:spPr>
          <a:xfrm>
            <a:off x="365760" y="4983480"/>
            <a:ext cx="8412480" cy="54864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cap="none" sz="1100" i="0" b="1" u="none" strike="noStrike">
                <a:solidFill>
                  <a:srgbClr val="1A7A4A">
                    <a:alpha val="100000"/>
                  </a:srgbClr>
                </a:solidFill>
                <a:latin typeface="Calibri"/>
                <a:cs typeface="Calibri"/>
                <a:ea typeface="Calibri"/>
                <a:sym typeface="Calibri"/>
              </a:rPr>
              <a:t>✓  RECOM 4: Protocolo de alta anticipada antes de las 14:00 h para maximizar la rotación diaria de camas.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juansebastianhurtadozapata</cp:lastModifiedBy>
  <cp:revision>3</cp:revision>
  <dcterms:created xsi:type="dcterms:W3CDTF">2017-02-13T16:18:36Z</dcterms:created>
  <dcterms:modified xsi:type="dcterms:W3CDTF">2026-07-24T16:35:50Z</dcterms:modified>
  <cp:category/>
</cp:coreProperties>
</file>