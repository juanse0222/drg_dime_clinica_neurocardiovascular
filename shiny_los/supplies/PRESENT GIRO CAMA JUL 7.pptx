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71" r:id="rId3"/>
    <p:sldId id="272" r:id="rId4"/>
    <p:sldId id="269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3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5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dirty="0"/>
              <a:t>Hora de egreso efectiva </a:t>
            </a:r>
            <a:r>
              <a:rPr lang="es-CO" dirty="0" err="1"/>
              <a:t>Hospi</a:t>
            </a:r>
            <a:endParaRPr lang="es-CO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Hoja1!$E$16</c:f>
              <c:strCache>
                <c:ptCount val="1"/>
                <c:pt idx="0">
                  <c:v>&lt; 12 pm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trendline>
            <c:spPr>
              <a:ln w="31750" cap="rnd">
                <a:solidFill>
                  <a:srgbClr val="00B05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Hoja1!$D$17:$D$19</c:f>
              <c:strCache>
                <c:ptCount val="3"/>
                <c:pt idx="0">
                  <c:v>mayo</c:v>
                </c:pt>
                <c:pt idx="1">
                  <c:v>junio</c:v>
                </c:pt>
                <c:pt idx="2">
                  <c:v>julio</c:v>
                </c:pt>
              </c:strCache>
            </c:strRef>
          </c:cat>
          <c:val>
            <c:numRef>
              <c:f>Hoja1!$E$17:$E$19</c:f>
              <c:numCache>
                <c:formatCode>0%</c:formatCode>
                <c:ptCount val="3"/>
                <c:pt idx="0">
                  <c:v>0.04</c:v>
                </c:pt>
                <c:pt idx="1">
                  <c:v>0.05</c:v>
                </c:pt>
                <c:pt idx="2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19-3A4E-978D-1E1818B538D1}"/>
            </c:ext>
          </c:extLst>
        </c:ser>
        <c:ser>
          <c:idx val="1"/>
          <c:order val="1"/>
          <c:tx>
            <c:strRef>
              <c:f>Hoja1!$F$16</c:f>
              <c:strCache>
                <c:ptCount val="1"/>
                <c:pt idx="0">
                  <c:v>&lt; 2 pm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chemeClr val="accent5"/>
              </a:solidFill>
            </a:ln>
            <a:effectLst/>
          </c:spPr>
          <c:invertIfNegative val="0"/>
          <c:trendline>
            <c:spPr>
              <a:ln w="19050" cap="rnd">
                <a:solidFill>
                  <a:schemeClr val="accent5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Hoja1!$D$17:$D$19</c:f>
              <c:strCache>
                <c:ptCount val="3"/>
                <c:pt idx="0">
                  <c:v>mayo</c:v>
                </c:pt>
                <c:pt idx="1">
                  <c:v>junio</c:v>
                </c:pt>
                <c:pt idx="2">
                  <c:v>julio</c:v>
                </c:pt>
              </c:strCache>
            </c:strRef>
          </c:cat>
          <c:val>
            <c:numRef>
              <c:f>Hoja1!$F$17:$F$19</c:f>
              <c:numCache>
                <c:formatCode>0%</c:formatCode>
                <c:ptCount val="3"/>
                <c:pt idx="0">
                  <c:v>0.32</c:v>
                </c:pt>
                <c:pt idx="1">
                  <c:v>0.4</c:v>
                </c:pt>
                <c:pt idx="2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19-3A4E-978D-1E1818B538D1}"/>
            </c:ext>
          </c:extLst>
        </c:ser>
        <c:ser>
          <c:idx val="2"/>
          <c:order val="2"/>
          <c:tx>
            <c:strRef>
              <c:f>Hoja1!$G$16</c:f>
              <c:strCache>
                <c:ptCount val="1"/>
                <c:pt idx="0">
                  <c:v>&gt;2pm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rgbClr val="FF0000"/>
              </a:solidFill>
            </a:ln>
            <a:effectLst/>
          </c:spPr>
          <c:invertIfNegative val="0"/>
          <c:trendline>
            <c:spPr>
              <a:ln w="19050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Hoja1!$D$17:$D$19</c:f>
              <c:strCache>
                <c:ptCount val="3"/>
                <c:pt idx="0">
                  <c:v>mayo</c:v>
                </c:pt>
                <c:pt idx="1">
                  <c:v>junio</c:v>
                </c:pt>
                <c:pt idx="2">
                  <c:v>julio</c:v>
                </c:pt>
              </c:strCache>
            </c:strRef>
          </c:cat>
          <c:val>
            <c:numRef>
              <c:f>Hoja1!$G$17:$G$19</c:f>
              <c:numCache>
                <c:formatCode>0%</c:formatCode>
                <c:ptCount val="3"/>
                <c:pt idx="0">
                  <c:v>0.68</c:v>
                </c:pt>
                <c:pt idx="1">
                  <c:v>0.6</c:v>
                </c:pt>
                <c:pt idx="2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719-3A4E-978D-1E1818B538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2538064"/>
        <c:axId val="566145823"/>
      </c:barChart>
      <c:catAx>
        <c:axId val="1782538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566145823"/>
        <c:crosses val="autoZero"/>
        <c:auto val="1"/>
        <c:lblAlgn val="ctr"/>
        <c:lblOffset val="100"/>
        <c:noMultiLvlLbl val="0"/>
      </c:catAx>
      <c:valAx>
        <c:axId val="566145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782538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Giro cama institucional</c:v>
                </c:pt>
              </c:strCache>
            </c:strRef>
          </c:tx>
          <c:spPr>
            <a:solidFill>
              <a:srgbClr val="2957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2026*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8.5500000000000007</c:v>
                </c:pt>
                <c:pt idx="1">
                  <c:v>9.25</c:v>
                </c:pt>
                <c:pt idx="2">
                  <c:v>9.4700000000000006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F7-0D4A-A830-BD8482312B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48E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UCI (meta 8,8)</c:v>
                </c:pt>
                <c:pt idx="1">
                  <c:v>UCIN (meta 15)</c:v>
                </c:pt>
                <c:pt idx="2">
                  <c:v>HOSP (meta 6,5)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7.85</c:v>
                </c:pt>
                <c:pt idx="1">
                  <c:v>13.07</c:v>
                </c:pt>
                <c:pt idx="2">
                  <c:v>5.94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6E-B44F-8DCF-5F4FA8E2E8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957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UCI (meta 8,8)</c:v>
                </c:pt>
                <c:pt idx="1">
                  <c:v>UCIN (meta 15)</c:v>
                </c:pt>
                <c:pt idx="2">
                  <c:v>HOSP (meta 6,5)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9.5</c:v>
                </c:pt>
                <c:pt idx="1">
                  <c:v>13.39</c:v>
                </c:pt>
                <c:pt idx="2">
                  <c:v>6.35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6E-B44F-8DCF-5F4FA8E2E8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6DBE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UCI (meta 8,8)</c:v>
                </c:pt>
                <c:pt idx="1">
                  <c:v>UCIN (meta 15)</c:v>
                </c:pt>
                <c:pt idx="2">
                  <c:v>HOSP (meta 6,5)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8.7100000000000009</c:v>
                </c:pt>
                <c:pt idx="1">
                  <c:v>14.83</c:v>
                </c:pt>
                <c:pt idx="2">
                  <c:v>6.46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6E-B44F-8DCF-5F4FA8E2E8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2222"/>
              </a:solidFill>
            </a:defRPr>
          </a:pPr>
          <a:endParaRPr lang="es-CO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48E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Institucional</c:v>
                </c:pt>
                <c:pt idx="1">
                  <c:v>UCI (meta 3,5)</c:v>
                </c:pt>
                <c:pt idx="2">
                  <c:v>UCIN (meta 2,5)</c:v>
                </c:pt>
                <c:pt idx="3">
                  <c:v>HOSP (meta 4,5)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3.29</c:v>
                </c:pt>
                <c:pt idx="1">
                  <c:v>3.42</c:v>
                </c:pt>
                <c:pt idx="2">
                  <c:v>2.2400000000000002</c:v>
                </c:pt>
                <c:pt idx="3">
                  <c:v>5.04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A4-D84D-BA7E-FFCCEC206B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957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Institucional</c:v>
                </c:pt>
                <c:pt idx="1">
                  <c:v>UCI (meta 3,5)</c:v>
                </c:pt>
                <c:pt idx="2">
                  <c:v>UCIN (meta 2,5)</c:v>
                </c:pt>
                <c:pt idx="3">
                  <c:v>HOSP (meta 4,5)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3.12</c:v>
                </c:pt>
                <c:pt idx="1">
                  <c:v>3.07</c:v>
                </c:pt>
                <c:pt idx="2">
                  <c:v>2.0499999999999998</c:v>
                </c:pt>
                <c:pt idx="3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A4-D84D-BA7E-FFCCEC206B7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6DBE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Institucional</c:v>
                </c:pt>
                <c:pt idx="1">
                  <c:v>UCI (meta 3,5)</c:v>
                </c:pt>
                <c:pt idx="2">
                  <c:v>UCIN (meta 2,5)</c:v>
                </c:pt>
                <c:pt idx="3">
                  <c:v>HOSP (meta 4,5)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3.02</c:v>
                </c:pt>
                <c:pt idx="1">
                  <c:v>3.25</c:v>
                </c:pt>
                <c:pt idx="2">
                  <c:v>1.87</c:v>
                </c:pt>
                <c:pt idx="3">
                  <c:v>4.53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A4-D84D-BA7E-FFCCEC206B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280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2222"/>
              </a:solidFill>
            </a:defRPr>
          </a:pPr>
          <a:endParaRPr lang="es-CO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48E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Total</c:v>
                </c:pt>
                <c:pt idx="1">
                  <c:v>Por EPS</c:v>
                </c:pt>
                <c:pt idx="2">
                  <c:v>Por IPS (interno)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180.1</c:v>
                </c:pt>
                <c:pt idx="1">
                  <c:v>124.5</c:v>
                </c:pt>
                <c:pt idx="2">
                  <c:v>49.5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8-4E45-91D4-74AC57B6BA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957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Total</c:v>
                </c:pt>
                <c:pt idx="1">
                  <c:v>Por EPS</c:v>
                </c:pt>
                <c:pt idx="2">
                  <c:v>Por IPS (interno)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179.3</c:v>
                </c:pt>
                <c:pt idx="1">
                  <c:v>134.6</c:v>
                </c:pt>
                <c:pt idx="2">
                  <c:v>28.2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28-4E45-91D4-74AC57B6BA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ED32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Total</c:v>
                </c:pt>
                <c:pt idx="1">
                  <c:v>Por EPS</c:v>
                </c:pt>
                <c:pt idx="2">
                  <c:v>Por IPS (interno)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143.69999999999999</c:v>
                </c:pt>
                <c:pt idx="1">
                  <c:v>112.3</c:v>
                </c:pt>
                <c:pt idx="2">
                  <c:v>55.8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28-4E45-91D4-74AC57B6BA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s-CO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s-CO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2222"/>
              </a:solidFill>
            </a:defRPr>
          </a:pPr>
          <a:endParaRPr lang="es-CO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366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ctrTitle" hasCustomPrompt="1"/>
          </p:nvPr>
        </p:nvSpPr>
        <p:spPr>
          <a:xfrm>
            <a:off x="4712110" y="841772"/>
            <a:ext cx="3288890" cy="441338"/>
          </a:xfrm>
        </p:spPr>
        <p:txBody>
          <a:bodyPr anchor="b">
            <a:noAutofit/>
          </a:bodyPr>
          <a:lstStyle>
            <a:lvl1pPr algn="l">
              <a:defRPr sz="2250"/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6" name="Subtítulo 2"/>
          <p:cNvSpPr>
            <a:spLocks noGrp="1"/>
          </p:cNvSpPr>
          <p:nvPr>
            <p:ph type="subTitle" idx="1"/>
          </p:nvPr>
        </p:nvSpPr>
        <p:spPr>
          <a:xfrm>
            <a:off x="4712110" y="1580651"/>
            <a:ext cx="3288891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7" name="Rectángulo 6"/>
          <p:cNvSpPr/>
          <p:nvPr userDrawn="1"/>
        </p:nvSpPr>
        <p:spPr>
          <a:xfrm>
            <a:off x="0" y="0"/>
            <a:ext cx="4227844" cy="5143500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350" dirty="0"/>
              <a:t>Imagen o fotografía de apoyo</a:t>
            </a:r>
          </a:p>
        </p:txBody>
      </p:sp>
    </p:spTree>
    <p:extLst>
      <p:ext uri="{BB962C8B-B14F-4D97-AF65-F5344CB8AC3E}">
        <p14:creationId xmlns:p14="http://schemas.microsoft.com/office/powerpoint/2010/main" val="54979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ítulo 1"/>
          <p:cNvSpPr>
            <a:spLocks noGrp="1"/>
          </p:cNvSpPr>
          <p:nvPr>
            <p:ph type="title"/>
          </p:nvPr>
        </p:nvSpPr>
        <p:spPr>
          <a:xfrm>
            <a:off x="1143000" y="1555955"/>
            <a:ext cx="6899564" cy="449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 dirty="0"/>
              <a:t>Título</a:t>
            </a:r>
          </a:p>
        </p:txBody>
      </p:sp>
      <p:sp>
        <p:nvSpPr>
          <p:cNvPr id="5" name="Marcador de texto 2"/>
          <p:cNvSpPr>
            <a:spLocks noGrp="1"/>
          </p:cNvSpPr>
          <p:nvPr>
            <p:ph idx="1"/>
          </p:nvPr>
        </p:nvSpPr>
        <p:spPr>
          <a:xfrm>
            <a:off x="1143000" y="2271251"/>
            <a:ext cx="6899564" cy="1718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Texto de apoyo</a:t>
            </a:r>
          </a:p>
        </p:txBody>
      </p:sp>
    </p:spTree>
    <p:extLst>
      <p:ext uri="{BB962C8B-B14F-4D97-AF65-F5344CB8AC3E}">
        <p14:creationId xmlns:p14="http://schemas.microsoft.com/office/powerpoint/2010/main" val="3615964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B1EA1CC-F004-46FD-EF10-090FE19C1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29C16-0F57-2D4A-9936-0D0CB54DAD77}" type="datetimeFigureOut">
              <a:rPr lang="es-CO"/>
              <a:pPr>
                <a:defRPr/>
              </a:pPr>
              <a:t>7/07/26</a:t>
            </a:fld>
            <a:endParaRPr lang="es-CO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589414-4B02-D5BD-682E-1F206E025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8084494-8133-BA20-01D2-0900DFCB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E74A40-8315-2047-BA59-EA7AE0D95761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2510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222227"/>
            <a:ext cx="6858000" cy="64781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13"/>
            </a:lvl1pPr>
          </a:lstStyle>
          <a:p>
            <a:r>
              <a:rPr lang="es-ES" dirty="0"/>
              <a:t>Título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1838747"/>
            <a:ext cx="6858000" cy="243091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  <p:sp>
        <p:nvSpPr>
          <p:cNvPr id="4" name="Rectángulo 3"/>
          <p:cNvSpPr/>
          <p:nvPr userDrawn="1"/>
        </p:nvSpPr>
        <p:spPr>
          <a:xfrm>
            <a:off x="1143001" y="944165"/>
            <a:ext cx="808892" cy="82899"/>
          </a:xfrm>
          <a:prstGeom prst="rect">
            <a:avLst/>
          </a:prstGeom>
          <a:solidFill>
            <a:srgbClr val="048E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64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860D0-03E1-5BB5-31A8-A4D856094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48D79-6892-7546-9CA0-FCE42FBE07A1}" type="datetimeFigureOut">
              <a:rPr lang="es-CO"/>
              <a:pPr>
                <a:defRPr/>
              </a:pPr>
              <a:t>7/07/26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A4A62-EDBC-F05F-E2BB-433D760EE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CB6C5-84BF-1A33-77C4-20E825709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31425-ABB3-B14B-BBDA-6ECB05971876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128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0030592-5CAC-1535-1248-9DA78C827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E9507-B8F4-CA4F-BD09-3CF24447D7F7}" type="datetimeFigureOut">
              <a:rPr lang="es-CO"/>
              <a:pPr>
                <a:defRPr/>
              </a:pPr>
              <a:t>7/07/26</a:t>
            </a:fld>
            <a:endParaRPr lang="es-CO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6DCE5F5-1AE1-1D5A-BB47-246CA9D2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E056BC5-265C-3B15-5B33-24ED4116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27909-E8DA-704B-B56A-A083B5CD9F67}" type="slidenum">
              <a:rPr lang="es-CO"/>
              <a:pPr>
                <a:defRPr/>
              </a:pPr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807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88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143000" y="1555955"/>
            <a:ext cx="6899564" cy="449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43000" y="2271251"/>
            <a:ext cx="6899564" cy="1718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Texto de apoyo</a:t>
            </a:r>
          </a:p>
        </p:txBody>
      </p:sp>
    </p:spTree>
    <p:extLst>
      <p:ext uri="{BB962C8B-B14F-4D97-AF65-F5344CB8AC3E}">
        <p14:creationId xmlns:p14="http://schemas.microsoft.com/office/powerpoint/2010/main" val="148410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813" b="1" kern="1200">
          <a:solidFill>
            <a:srgbClr val="048E49"/>
          </a:solidFill>
          <a:latin typeface="+mj-lt"/>
          <a:ea typeface="+mj-ea"/>
          <a:cs typeface="+mj-cs"/>
        </a:defRPr>
      </a:lvl1pPr>
    </p:titleStyle>
    <p:bodyStyle>
      <a:lvl1pPr marL="128588" indent="-128588" algn="ctr" defTabSz="514350" rtl="0" eaLnBrk="1" latinLnBrk="0" hangingPunct="1">
        <a:lnSpc>
          <a:spcPct val="90000"/>
        </a:lnSpc>
        <a:spcBef>
          <a:spcPts val="563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ro_cama_pptx/logo_d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246120"/>
            <a:ext cx="992124" cy="1417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3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PREXO · CAPACIDAD INSTALADA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Giro Cama y Estancia Hospitalaria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 I Semestre 2024 – 2026 y plan de acción para el II Semestre 2026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7091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Presentación a Alta Gerencia  ·  Julio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D22BC-EECD-F66F-C1BD-8D26297C1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Tareas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305926-613E-956F-2D59-BBE11E9628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Cambiar el especialista de MI para pasar las rondas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Iniciar la revista a las 7:00 am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Priorizar en las rondas los pacientes con prealta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Implementar la fecha estimada de egreso (FEE) cuando el paciente ingresa a hospitalización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Medir el delta del FEE y la fecha de egreso efectivo</a:t>
            </a:r>
          </a:p>
        </p:txBody>
      </p:sp>
    </p:spTree>
    <p:extLst>
      <p:ext uri="{BB962C8B-B14F-4D97-AF65-F5344CB8AC3E}">
        <p14:creationId xmlns:p14="http://schemas.microsoft.com/office/powerpoint/2010/main" val="327227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20EF-5827-88D5-AC2E-EAFC7658F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45874"/>
            <a:ext cx="6858000" cy="647815"/>
          </a:xfrm>
        </p:spPr>
        <p:txBody>
          <a:bodyPr/>
          <a:lstStyle/>
          <a:p>
            <a:r>
              <a:rPr lang="es-CO" dirty="0"/>
              <a:t>Ejecución de tareas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425665-6D6A-4E81-97C2-D3AFF416D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120992"/>
            <a:ext cx="6858000" cy="73300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s-CO" dirty="0"/>
              <a:t>Se contrató a la </a:t>
            </a:r>
            <a:r>
              <a:rPr lang="es-CO" dirty="0" err="1"/>
              <a:t>Dra</a:t>
            </a:r>
            <a:r>
              <a:rPr lang="es-CO" dirty="0"/>
              <a:t> Carolina </a:t>
            </a:r>
            <a:r>
              <a:rPr lang="es-CO" dirty="0" err="1"/>
              <a:t>Murgüeitio</a:t>
            </a:r>
            <a:r>
              <a:rPr lang="es-CO" dirty="0"/>
              <a:t> (15 junio)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Se está iniciando la revista a las 7:30 am por temas de laboratorio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9A189F-B6CF-FCC7-2E6F-4CCE7DC22D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0" t="5708"/>
          <a:stretch/>
        </p:blipFill>
        <p:spPr>
          <a:xfrm>
            <a:off x="227358" y="1932653"/>
            <a:ext cx="4520629" cy="2404153"/>
          </a:xfrm>
          <a:prstGeom prst="rect">
            <a:avLst/>
          </a:prstGeom>
        </p:spPr>
      </p:pic>
      <p:sp>
        <p:nvSpPr>
          <p:cNvPr id="5" name="Título 3">
            <a:extLst>
              <a:ext uri="{FF2B5EF4-FFF2-40B4-BE49-F238E27FC236}">
                <a16:creationId xmlns:a16="http://schemas.microsoft.com/office/drawing/2014/main" id="{482AC5D6-E7B2-E807-7A07-4B88E5A3A729}"/>
              </a:ext>
            </a:extLst>
          </p:cNvPr>
          <p:cNvSpPr txBox="1">
            <a:spLocks/>
          </p:cNvSpPr>
          <p:nvPr/>
        </p:nvSpPr>
        <p:spPr>
          <a:xfrm>
            <a:off x="1104576" y="4072347"/>
            <a:ext cx="2804467" cy="4494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13" b="1" kern="1200">
                <a:solidFill>
                  <a:srgbClr val="048E4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100" b="0" dirty="0"/>
              <a:t>Ingresos muestras </a:t>
            </a:r>
            <a:r>
              <a:rPr lang="es-CO" sz="1100" b="0" dirty="0" err="1"/>
              <a:t>Lab</a:t>
            </a:r>
            <a:r>
              <a:rPr lang="es-CO" sz="1100" b="0" dirty="0"/>
              <a:t> por hora/servicio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754E14-FF13-ADF4-AB36-080BD8CB0B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9" t="4947" r="23469" b="1650"/>
          <a:stretch/>
        </p:blipFill>
        <p:spPr>
          <a:xfrm>
            <a:off x="4731524" y="1932653"/>
            <a:ext cx="4176499" cy="2324715"/>
          </a:xfrm>
          <a:prstGeom prst="rect">
            <a:avLst/>
          </a:prstGeom>
        </p:spPr>
      </p:pic>
      <p:sp>
        <p:nvSpPr>
          <p:cNvPr id="7" name="Título 3">
            <a:extLst>
              <a:ext uri="{FF2B5EF4-FFF2-40B4-BE49-F238E27FC236}">
                <a16:creationId xmlns:a16="http://schemas.microsoft.com/office/drawing/2014/main" id="{065EE90B-FD12-C7CC-E92A-17211CEDB7ED}"/>
              </a:ext>
            </a:extLst>
          </p:cNvPr>
          <p:cNvSpPr txBox="1">
            <a:spLocks/>
          </p:cNvSpPr>
          <p:nvPr/>
        </p:nvSpPr>
        <p:spPr>
          <a:xfrm>
            <a:off x="5341677" y="4072347"/>
            <a:ext cx="3831820" cy="4494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51435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13" b="1" kern="1200">
                <a:solidFill>
                  <a:srgbClr val="048E49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100" b="0" dirty="0"/>
              <a:t>Resultados </a:t>
            </a:r>
            <a:r>
              <a:rPr lang="es-CO" sz="1100" b="0" dirty="0" err="1"/>
              <a:t>Lab</a:t>
            </a:r>
            <a:r>
              <a:rPr lang="es-CO" sz="1100" b="0" dirty="0"/>
              <a:t> validados por hora del día y servicio</a:t>
            </a:r>
          </a:p>
        </p:txBody>
      </p:sp>
    </p:spTree>
    <p:extLst>
      <p:ext uri="{BB962C8B-B14F-4D97-AF65-F5344CB8AC3E}">
        <p14:creationId xmlns:p14="http://schemas.microsoft.com/office/powerpoint/2010/main" val="71649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DFF1C2C0-ABC9-98E8-DE2A-CB742BC482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Revista hospitalización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BDF34329-1F63-3BA6-3B46-4D5150358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4174" y="1356295"/>
            <a:ext cx="6858000" cy="541332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es-CO" dirty="0"/>
              <a:t>Iniciar la revista por las prealtas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1666CED0-B288-A218-9740-FF9EC7E3B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1937013"/>
              </p:ext>
            </p:extLst>
          </p:nvPr>
        </p:nvGraphicFramePr>
        <p:xfrm>
          <a:off x="1833715" y="1897627"/>
          <a:ext cx="544215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8258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EJECUTIVA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El giro cama institucional mejora de forma sostenida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primer semestre, DIME pasó de 8,55 a 9,47 egresos por cama (+10,7%) y la estancia promedio bajó de 3,29 a 3,02 días (-8,2%). HOSP y UCIN ya operan por encima de su meta de giro cama; UCI e institucional se acercan a la suya. El punto de atención para el II semestre es interno: los días de cama inactiva por causas IPS (facturación, coordinación) se duplicaron frente a 2025, mientras la gestión con EPS (PGP-Sanitas) sigue mostrando resultado.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2679192" cy="1600200"/>
          </a:xfrm>
          <a:prstGeom prst="roundRect">
            <a:avLst>
              <a:gd name="adj" fmla="val 5143"/>
            </a:avLst>
          </a:prstGeom>
          <a:solidFill>
            <a:srgbClr val="F5F9F6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532888"/>
            <a:ext cx="457200" cy="457200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259232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1089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9,47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3538728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cama institucional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3721608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8,55 en 2024  ·  meta 10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73552" y="2331720"/>
            <a:ext cx="2679192" cy="1600200"/>
          </a:xfrm>
          <a:prstGeom prst="roundRect">
            <a:avLst>
              <a:gd name="adj" fmla="val 5143"/>
            </a:avLst>
          </a:prstGeom>
          <a:solidFill>
            <a:srgbClr val="F5F9F6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3474720" y="2532888"/>
            <a:ext cx="457200" cy="457200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156" y="2592324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31089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3,02 días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474720" y="3538728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 promedio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74720" y="3721608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3,29 en 2024  ·  -8,2%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9904" y="2331720"/>
            <a:ext cx="2679192" cy="1600200"/>
          </a:xfrm>
          <a:prstGeom prst="roundRect">
            <a:avLst>
              <a:gd name="adj" fmla="val 5143"/>
            </a:avLst>
          </a:prstGeom>
          <a:solidFill>
            <a:srgbClr val="F5F9F6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4"/>
          <p:cNvSpPr/>
          <p:nvPr/>
        </p:nvSpPr>
        <p:spPr>
          <a:xfrm>
            <a:off x="6291072" y="2532888"/>
            <a:ext cx="457200" cy="457200"/>
          </a:xfrm>
          <a:prstGeom prst="ellipse">
            <a:avLst/>
          </a:prstGeom>
          <a:solidFill>
            <a:srgbClr val="ED32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08" y="2592324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91072" y="31089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55,8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291072" y="3538728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inactivos IPS/mes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91072" y="3721608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28,2 en 2025  ·  +98%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Tablero KPI PREXO Giro Cama, corte julio 2026. *2026 corresponde a enero–junio (parcial).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 Giro Cama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Cómo se construyó este análisis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5F9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Indicador: Giro cama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egresos en el periodo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075688"/>
            <a:ext cx="237744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camas disponibles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 cuántos pacientes, en promedio, pasan por cada cama disponible en el periodo. A mayor valor, mayor productividad del recurso cama.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 promedio (días) = Total días de estancia de egresados ÷ Total de pacientes egresados. Es el complemento directo del giro cama.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160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Pabón L.H. (1985); García Serven (1993).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3977640" cy="3246120"/>
          </a:xfrm>
          <a:prstGeom prst="roundRect">
            <a:avLst>
              <a:gd name="adj" fmla="val 2254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3776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comparativo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783080"/>
            <a:ext cx="3520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Periodo: enero–junio (I semestre) de 2024, 2025 y 2026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institucional y por unidad: UCI, UCIN y Hospitalización general (HOSP)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estancia promedio por unidad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cama inactiva por causa EPS vs. IPS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única: tablero KPI del proyecto PREXO Giro Cama, corte 7 de julio de 2026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4160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2026 tiene datos completos solo de enero a junio; se compara semestre contra semestre (I sem. vs. I sem.), nunca contra años completos.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— GIRO CAMA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Giro cama institucional, I semestre 2024–2026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institucional: 10 egresos/cama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60720" y="118872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F5F9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598932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resultado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989320" y="1737360"/>
            <a:ext cx="2514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+10,7% acumulado entre el I sem. 2024 y el I sem. 2026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máximo histórico mensual se registró en octubre 2025, con 11,1 egresos/cama</a:t>
            </a:r>
            <a:endParaRPr lang="en-US" sz="10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este ritmo, DIME está a 0,53 puntos de alcanzar la meta institucional de 10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— GIRO CAMA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Giro cama por unidad, I semestre 2024–2026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82296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 y UCIN ya superan su meta de giro cama; UCI se ubica 1,0% por debajo de la suya tras el pico de 2025.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— ESTANCIA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Estancia promedio (días), I semestre 2024–2026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82296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a la baja en 3 de 4 líneas. HOSP está a 0,03 días de su meta (4,5). UCI repuntó 0,18 días frente a 2025, el único retroceso del grupo.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OPERATIVA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Días de cama inactiva: la oportunidad está en lo interno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2120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días-cama inactivos por mes. *2026: EPS con 4 meses de dato, IPS y Total con 6.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852160" y="118872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FDEEE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6053328" y="1371600"/>
            <a:ext cx="411480" cy="411480"/>
          </a:xfrm>
          <a:prstGeom prst="ellipse">
            <a:avLst/>
          </a:prstGeom>
          <a:solidFill>
            <a:srgbClr val="ED32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820" y="1425092"/>
            <a:ext cx="304495" cy="3044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53328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3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IPS: +98% frente a 2025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53328" y="21945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inactividad de causa interna (facturación, farmacia, coordinación de camas) venía bajando desde 2024 y se duplicó en el primer semestre de 2026: de 28,2 a 55,8 días-cama/mes en promedio.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53328" y="32461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paralelo, la inactividad por EPS bajó a 112,3 (vs. 134,6 en 2025), gracias a la gestión conjunta con el Programa de Gestión del Paciente (PGP) con EPS Sanitas.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Lectura consolidada del semestre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79192" cy="1691640"/>
          </a:xfrm>
          <a:prstGeom prst="roundRect">
            <a:avLst>
              <a:gd name="adj" fmla="val 4324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6" y="1421526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8470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cama al alza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1214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+10,7% institucional; HOSP y UCIN ya superan su meta.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273552" y="1188720"/>
            <a:ext cx="2679192" cy="1691640"/>
          </a:xfrm>
          <a:prstGeom prst="roundRect">
            <a:avLst>
              <a:gd name="adj" fmla="val 4324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3456432" y="1371600"/>
            <a:ext cx="384048" cy="384048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358" y="1421526"/>
            <a:ext cx="284196" cy="2841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56432" y="18470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 a la baja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56432" y="21214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3,29 → 3,02 días institucional (-8,2%); UCIN lidera con -16,5%.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089904" y="1188720"/>
            <a:ext cx="2679192" cy="1691640"/>
          </a:xfrm>
          <a:prstGeom prst="roundRect">
            <a:avLst>
              <a:gd name="adj" fmla="val 4324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6272784" y="1371600"/>
            <a:ext cx="384048" cy="384048"/>
          </a:xfrm>
          <a:prstGeom prst="ellipse">
            <a:avLst/>
          </a:prstGeom>
          <a:solidFill>
            <a:srgbClr val="ED32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710" y="1421526"/>
            <a:ext cx="284196" cy="2841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2784" y="18470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UCI, atención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72784" y="21214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 subió de 3,07 a 3,25 días; giro cama retrocedió 8,3% vs. su pico 2025.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79192" cy="1691640"/>
          </a:xfrm>
          <a:prstGeom prst="roundRect">
            <a:avLst>
              <a:gd name="adj" fmla="val 4324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ED32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006" y="3250326"/>
            <a:ext cx="284196" cy="2841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6758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Inactividad interna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40080" y="39502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Días-cama inactivos por causa IPS se duplicaron: 28,2 → 55,8 por mes.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3273552" y="3017520"/>
            <a:ext cx="2679192" cy="1691640"/>
          </a:xfrm>
          <a:prstGeom prst="roundRect">
            <a:avLst>
              <a:gd name="adj" fmla="val 4324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3456432" y="3200400"/>
            <a:ext cx="384048" cy="384048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358" y="3250326"/>
            <a:ext cx="284196" cy="2841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56432" y="36758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PGP-EPS funciona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56432" y="39502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conjunta con Sanitas redujo la inactividad por EPS un 16,6%.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6089904" y="3017520"/>
            <a:ext cx="2679192" cy="1691640"/>
          </a:xfrm>
          <a:prstGeom prst="roundRect">
            <a:avLst>
              <a:gd name="adj" fmla="val 4324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6272784" y="3200400"/>
            <a:ext cx="384048" cy="384048"/>
          </a:xfrm>
          <a:prstGeom prst="ellipse">
            <a:avLst/>
          </a:prstGeom>
          <a:solidFill>
            <a:srgbClr val="ED3237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2710" y="3250326"/>
            <a:ext cx="284196" cy="2841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72784" y="36758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Urgencias más lentas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72784" y="39502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Permanencia promedio subió a 18,7 h/paciente, por encima de la meta de 14 h.</a:t>
            </a:r>
            <a:endParaRPr lang="en-US" sz="980" dirty="0"/>
          </a:p>
        </p:txBody>
      </p:sp>
      <p:sp>
        <p:nvSpPr>
          <p:cNvPr id="34" name="Text 26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Qué muestra la evidencia en Lean Healthcare y gestión de flujo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095662"/>
              </p:ext>
            </p:extLst>
          </p:nvPr>
        </p:nvGraphicFramePr>
        <p:xfrm>
          <a:off x="457200" y="983225"/>
          <a:ext cx="8229600" cy="377362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Fuente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Intervención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+mn-lt"/>
                          <a:ea typeface="Calibri" charset="0"/>
                          <a:cs typeface="Calibri" charset="0"/>
                        </a:rPr>
                        <a:t>Resultado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646044"/>
                  </a:ext>
                </a:extLst>
              </a:tr>
              <a:tr h="5506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NHS England (Radnor et al., 2012)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Adopción de Lean Healthcare a nivel de sistema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-35% en tiempos de espera promedio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Hospital académico, México (Peimbert-García et al., 2021)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Rediseño Lean del proceso de alta médica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Alta: 6h → 3h · -57% actividades sin valor · -70% errores en órdenes de alta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Hospital Universitario de La Samaritana, Colombia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VSM + simulación del proceso de egreso en Medicina Interna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Causa raíz: falta de aviso anticipado a facturación antes del alta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Revisión integrativa, Lean en hospitalización y alta (2023)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Planificación de alta con enfoque Lean (PubMed/Scopus/CINAHL)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Mejor comunicación, flujo de trabajo más organizado y menor estancia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3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Discharge Before Noon, meta-evidencia (JHM, JCJQPS)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Rondas + checklist + meta de horario de alta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Resultado mixto: mejora la predictibilidad de flujo; el efecto sobre estancia depende de integrarlo a rondas multidisciplinarias, no solo a la hora del alta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4" name="Text 7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Cuellos de botella identificados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6" y="1421526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administrativa interna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190195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Facturación, farmacia y asignación de cama sin aviso anticipado al alta: causa directa del alza de estancias inactivas IPS en 2026.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892040" y="1371600"/>
            <a:ext cx="384048" cy="384048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966" y="1421526"/>
            <a:ext cx="284196" cy="2841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Autorizaciones EPS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892040" y="190195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siendo el mayor componente de inactividad (112–135 días-cama/mes), pese a la mejora reciente con el modelo PGP.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06" y="3250326"/>
            <a:ext cx="284196" cy="2841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182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Estancias prolongadas en picos de complejidad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" y="373075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agosto 2025 se registraron 10 pacientes de UCI con estancia &gt;10 días y 19 de UCIN &gt;5 días, bajando los egresos del mes muy por debajo del promedio.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5F9F6"/>
          </a:solidFill>
          <a:ln/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4892040" y="3200400"/>
            <a:ext cx="384048" cy="384048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1966" y="3250326"/>
            <a:ext cx="284196" cy="2841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182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Permanencia en urgencias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892040" y="373075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18,7 h/paciente en 2026 (meta 14h), lo que retrasa la disponibilidad de cupos para admisión programada.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ACCIÓN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Hoja de ruta — II semestre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5F9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21792" y="1325880"/>
            <a:ext cx="347472" cy="347472"/>
          </a:xfrm>
          <a:prstGeom prst="ellipse">
            <a:avLst/>
          </a:prstGeom>
          <a:solidFill>
            <a:srgbClr val="2957A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22529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multidisciplinarias diarias con checklist de alta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· Inmediato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40680" y="122529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Enfermería + Medicina, UCI/UCIN prioritario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269480" y="122529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8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estancia UCI ≤3,1 días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4767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5F9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621792" y="2103120"/>
            <a:ext cx="347472" cy="347472"/>
          </a:xfrm>
          <a:prstGeom prst="ellipse">
            <a:avLst/>
          </a:prstGeom>
          <a:solidFill>
            <a:srgbClr val="2957A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21792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00253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del proceso de alta interno (facturación–farmacia–camas)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43000" y="22951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Táctica · 4-6 semanas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40680" y="20025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PREXO Capacidad Instalada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7269480" y="200253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8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inactividad IPS &lt;30 días-cama/mes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5F9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21792" y="2880360"/>
            <a:ext cx="347472" cy="347472"/>
          </a:xfrm>
          <a:prstGeom prst="ellipse">
            <a:avLst/>
          </a:prstGeom>
          <a:solidFill>
            <a:srgbClr val="2957A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21792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77977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modelo PGP a las 2 EPS de mayor volumen tras Sanitas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43000" y="307238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· Semanas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40680" y="27797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EPS + Jefes de Servicio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7269480" y="277977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8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inactividad EPS &lt;100 días-cama/mes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0215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5F9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21792" y="3657600"/>
            <a:ext cx="347472" cy="347472"/>
          </a:xfrm>
          <a:prstGeom prst="ellipse">
            <a:avLst/>
          </a:prstGeom>
          <a:solidFill>
            <a:srgbClr val="2957A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21792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55701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alerta temprana para estancias prolongadas (&gt;p90 por unidad)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3000" y="384962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Táctica · Trimestral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0680" y="35570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+ Calidad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7269480" y="355701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8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detección en las primeras 48h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79392"/>
            <a:ext cx="8229600" cy="658368"/>
          </a:xfrm>
          <a:prstGeom prst="roundRect">
            <a:avLst>
              <a:gd name="adj" fmla="val 9722"/>
            </a:avLst>
          </a:prstGeom>
          <a:solidFill>
            <a:srgbClr val="F5F9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21792" y="4434840"/>
            <a:ext cx="347472" cy="347472"/>
          </a:xfrm>
          <a:prstGeom prst="ellipse">
            <a:avLst/>
          </a:prstGeom>
          <a:solidFill>
            <a:srgbClr val="2957A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21792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3000" y="433425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con Junta la meta de giro cama institucional y HOSP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43000" y="46268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Estratégica · Semestral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40680" y="43342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+ Junta Directiva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7269480" y="433425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48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el avance sostenido hacia la meta de 10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9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Impacto del plan en los tres ejes de DIME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384048"/>
          </a:xfrm>
          <a:prstGeom prst="rect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120700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operacional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66360" y="120700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calidad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95160" y="1207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del paciente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91056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48640" y="159105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multidisciplinarias + checklist de alta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2926080" y="159105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baja estancia UCI/UCIN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5166360" y="15910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— menos reprocesos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6995160" y="159105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más claridad sobre el alta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8229600" cy="77724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8640" y="236829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VSM del alta interna (fact.–farmacia–camas)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2926080" y="23682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baja inactividad IPS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166360" y="236829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— reduce errores admin.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6995160" y="236829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— menos esperas al egreso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48640" y="314553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del modelo PGP a más EPS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2926080" y="314553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baja inactividad EPS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166360" y="314553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Bajo/neutro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995160" y="314553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— menos demoras por autorización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57200" y="3922776"/>
            <a:ext cx="8229600" cy="777240"/>
          </a:xfrm>
          <a:prstGeom prst="rect">
            <a:avLst/>
          </a:prstGeom>
          <a:solidFill>
            <a:srgbClr val="F5F9F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48640" y="3922776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alerta de estancias prolongadas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2926080" y="392277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— anticipa cuellos de botella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166360" y="392277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— trazabilidad y seguridad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6995160" y="3922776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Bajo/neutro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57200" y="1207008"/>
            <a:ext cx="0" cy="3493008"/>
          </a:xfrm>
          <a:prstGeom prst="line">
            <a:avLst/>
          </a:prstGeom>
          <a:noFill/>
          <a:ln w="9525">
            <a:solidFill>
              <a:srgbClr val="DCE7E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5720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  ·  Giro Cama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4964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iro_cama_pptx/logo_d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429000"/>
            <a:ext cx="992124" cy="1417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85800"/>
            <a:ext cx="731520" cy="731520"/>
          </a:xfrm>
          <a:prstGeom prst="ellipse">
            <a:avLst/>
          </a:prstGeom>
          <a:solidFill>
            <a:srgbClr val="048E49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780898"/>
            <a:ext cx="541325" cy="5413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5448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8E4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40080" y="1965960"/>
            <a:ext cx="310896" cy="310896"/>
          </a:xfrm>
          <a:prstGeom prst="ellipse">
            <a:avLst/>
          </a:prstGeom>
          <a:solidFill>
            <a:srgbClr val="2957A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3"/>
          <p:cNvSpPr/>
          <p:nvPr/>
        </p:nvSpPr>
        <p:spPr>
          <a:xfrm>
            <a:off x="64008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43000" y="1911096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plan de acción del II semestre 2026 y sus responsables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532888"/>
            <a:ext cx="310896" cy="310896"/>
          </a:xfrm>
          <a:prstGeom prst="ellipse">
            <a:avLst/>
          </a:prstGeom>
          <a:solidFill>
            <a:srgbClr val="2957A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6"/>
          <p:cNvSpPr/>
          <p:nvPr/>
        </p:nvSpPr>
        <p:spPr>
          <a:xfrm>
            <a:off x="64008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43000" y="247802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la Ficha de Seguimiento PREXO con corte mensual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10896" cy="310896"/>
          </a:xfrm>
          <a:prstGeom prst="ellipse">
            <a:avLst/>
          </a:prstGeom>
          <a:solidFill>
            <a:srgbClr val="2957A4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64008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43000" y="304495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avance en el próximo Comité PREXO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4709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Clínica Neurocardiovascular  ·  PREXO Capacidad Instalada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2836</TotalTime>
  <Words>1628</Words>
  <Application>Microsoft Macintosh PowerPoint</Application>
  <PresentationFormat>Presentación en pantalla (16:9)</PresentationFormat>
  <Paragraphs>202</Paragraphs>
  <Slides>16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Tahoma</vt:lpstr>
      <vt:lpstr>2_Tema de Office</vt:lpstr>
      <vt:lpstr>Presentación de PowerPoint</vt:lpstr>
      <vt:lpstr>Tareas</vt:lpstr>
      <vt:lpstr>Ejecución de tareas</vt:lpstr>
      <vt:lpstr>Revista hospitalización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Giro Cama y Estancia Hospitalaria — I Semestre 2024-2026</dc:title>
  <dc:subject>PptxGenJS Presentation</dc:subject>
  <dc:creator>DIME Clínica Neurocardiovascular</dc:creator>
  <cp:lastModifiedBy>Carolina Isaza de Lourido</cp:lastModifiedBy>
  <cp:revision>4</cp:revision>
  <dcterms:created xsi:type="dcterms:W3CDTF">2026-07-07T15:25:26Z</dcterms:created>
  <dcterms:modified xsi:type="dcterms:W3CDTF">2026-07-09T15:07:16Z</dcterms:modified>
</cp:coreProperties>
</file>