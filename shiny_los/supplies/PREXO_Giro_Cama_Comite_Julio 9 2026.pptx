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7" r:id="rId2"/>
    <p:sldMasterId id="2147483669" r:id="rId3"/>
  </p:sldMasterIdLst>
  <p:notesMasterIdLst>
    <p:notesMasterId r:id="rId19"/>
  </p:notesMasterIdLst>
  <p:sldIdLst>
    <p:sldId id="256" r:id="rId4"/>
    <p:sldId id="271" r:id="rId5"/>
    <p:sldId id="272" r:id="rId6"/>
    <p:sldId id="269" r:id="rId7"/>
    <p:sldId id="265" r:id="rId8"/>
    <p:sldId id="274" r:id="rId9"/>
    <p:sldId id="257" r:id="rId10"/>
    <p:sldId id="275" r:id="rId11"/>
    <p:sldId id="273" r:id="rId12"/>
    <p:sldId id="258" r:id="rId13"/>
    <p:sldId id="259" r:id="rId14"/>
    <p:sldId id="260" r:id="rId15"/>
    <p:sldId id="276" r:id="rId16"/>
    <p:sldId id="262" r:id="rId17"/>
    <p:sldId id="263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526"/>
  </p:normalViewPr>
  <p:slideViewPr>
    <p:cSldViewPr snapToGrid="0">
      <p:cViewPr varScale="1">
        <p:scale>
          <a:sx n="123" d="100"/>
          <a:sy n="123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5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Hora de egreso efectiva Hospi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Hoja1!$E$16</c:f>
              <c:strCache>
                <c:ptCount val="1"/>
                <c:pt idx="0">
                  <c:v>&lt; 12 pm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  <a:effectLst/>
          </c:spPr>
          <c:invertIfNegative val="0"/>
          <c:trendline>
            <c:spPr>
              <a:ln w="31750" cap="rnd">
                <a:solidFill>
                  <a:srgbClr val="00B05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Hoja1!$D$17:$D$19</c:f>
              <c:strCache>
                <c:ptCount val="3"/>
                <c:pt idx="0">
                  <c:v>mayo</c:v>
                </c:pt>
                <c:pt idx="1">
                  <c:v>junio</c:v>
                </c:pt>
                <c:pt idx="2">
                  <c:v>julio</c:v>
                </c:pt>
              </c:strCache>
            </c:strRef>
          </c:cat>
          <c:val>
            <c:numRef>
              <c:f>Hoja1!$E$17:$E$19</c:f>
              <c:numCache>
                <c:formatCode>0%</c:formatCode>
                <c:ptCount val="3"/>
                <c:pt idx="0">
                  <c:v>0.04</c:v>
                </c:pt>
                <c:pt idx="1">
                  <c:v>0.05</c:v>
                </c:pt>
                <c:pt idx="2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19-3A4E-978D-1E1818B538D1}"/>
            </c:ext>
          </c:extLst>
        </c:ser>
        <c:ser>
          <c:idx val="1"/>
          <c:order val="1"/>
          <c:tx>
            <c:strRef>
              <c:f>Hoja1!$F$16</c:f>
              <c:strCache>
                <c:ptCount val="1"/>
                <c:pt idx="0">
                  <c:v>&lt; 2 pm</c:v>
                </c:pt>
              </c:strCache>
            </c:strRef>
          </c:tx>
          <c:spPr>
            <a:solidFill>
              <a:schemeClr val="accent5"/>
            </a:solidFill>
            <a:ln>
              <a:solidFill>
                <a:schemeClr val="accent5"/>
              </a:solidFill>
            </a:ln>
            <a:effectLst/>
          </c:spPr>
          <c:invertIfNegative val="0"/>
          <c:trendline>
            <c:spPr>
              <a:ln w="19050" cap="rnd">
                <a:solidFill>
                  <a:schemeClr val="accent5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Hoja1!$D$17:$D$19</c:f>
              <c:strCache>
                <c:ptCount val="3"/>
                <c:pt idx="0">
                  <c:v>mayo</c:v>
                </c:pt>
                <c:pt idx="1">
                  <c:v>junio</c:v>
                </c:pt>
                <c:pt idx="2">
                  <c:v>julio</c:v>
                </c:pt>
              </c:strCache>
            </c:strRef>
          </c:cat>
          <c:val>
            <c:numRef>
              <c:f>Hoja1!$F$17:$F$19</c:f>
              <c:numCache>
                <c:formatCode>0%</c:formatCode>
                <c:ptCount val="3"/>
                <c:pt idx="0">
                  <c:v>0.32</c:v>
                </c:pt>
                <c:pt idx="1">
                  <c:v>0.4</c:v>
                </c:pt>
                <c:pt idx="2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19-3A4E-978D-1E1818B538D1}"/>
            </c:ext>
          </c:extLst>
        </c:ser>
        <c:ser>
          <c:idx val="2"/>
          <c:order val="2"/>
          <c:tx>
            <c:strRef>
              <c:f>Hoja1!$G$16</c:f>
              <c:strCache>
                <c:ptCount val="1"/>
                <c:pt idx="0">
                  <c:v>&gt;2pm</c:v>
                </c:pt>
              </c:strCache>
            </c:strRef>
          </c:tx>
          <c:spPr>
            <a:solidFill>
              <a:srgbClr val="FF0000"/>
            </a:solidFill>
            <a:ln>
              <a:solidFill>
                <a:srgbClr val="FF0000"/>
              </a:solidFill>
            </a:ln>
            <a:effectLst/>
          </c:spPr>
          <c:invertIfNegative val="0"/>
          <c:trendline>
            <c:spPr>
              <a:ln w="1905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Hoja1!$D$17:$D$19</c:f>
              <c:strCache>
                <c:ptCount val="3"/>
                <c:pt idx="0">
                  <c:v>mayo</c:v>
                </c:pt>
                <c:pt idx="1">
                  <c:v>junio</c:v>
                </c:pt>
                <c:pt idx="2">
                  <c:v>julio</c:v>
                </c:pt>
              </c:strCache>
            </c:strRef>
          </c:cat>
          <c:val>
            <c:numRef>
              <c:f>Hoja1!$G$17:$G$19</c:f>
              <c:numCache>
                <c:formatCode>0%</c:formatCode>
                <c:ptCount val="3"/>
                <c:pt idx="0">
                  <c:v>0.68</c:v>
                </c:pt>
                <c:pt idx="1">
                  <c:v>0.6</c:v>
                </c:pt>
                <c:pt idx="2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719-3A4E-978D-1E1818B538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82538064"/>
        <c:axId val="566145823"/>
      </c:barChart>
      <c:catAx>
        <c:axId val="1782538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66145823"/>
        <c:crosses val="autoZero"/>
        <c:auto val="1"/>
        <c:lblAlgn val="ctr"/>
        <c:lblOffset val="100"/>
        <c:noMultiLvlLbl val="0"/>
      </c:catAx>
      <c:valAx>
        <c:axId val="566145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782538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(h/paciente)</c:v>
                </c:pt>
              </c:strCache>
            </c:strRef>
          </c:tx>
          <c:spPr>
            <a:ln w="31750" cap="flat">
              <a:solidFill>
                <a:srgbClr val="2F6D4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F6D4F"/>
              </a:solidFill>
              <a:ln w="9525" cap="flat">
                <a:solidFill>
                  <a:srgbClr val="2F6D4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11.52</c:v>
                </c:pt>
                <c:pt idx="1">
                  <c:v>16.010000000000002</c:v>
                </c:pt>
                <c:pt idx="2">
                  <c:v>15.02</c:v>
                </c:pt>
                <c:pt idx="3">
                  <c:v>9.7799999999999994</c:v>
                </c:pt>
                <c:pt idx="4">
                  <c:v>11.38</c:v>
                </c:pt>
                <c:pt idx="5">
                  <c:v>15.16</c:v>
                </c:pt>
                <c:pt idx="6">
                  <c:v>17.23</c:v>
                </c:pt>
                <c:pt idx="7">
                  <c:v>18.07</c:v>
                </c:pt>
                <c:pt idx="8">
                  <c:v>19.170000000000002</c:v>
                </c:pt>
                <c:pt idx="9">
                  <c:v>16.18</c:v>
                </c:pt>
                <c:pt idx="10">
                  <c:v>19.809999999999999</c:v>
                </c:pt>
                <c:pt idx="11">
                  <c:v>15.11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36-4666-AC98-DDB7307822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(h/paciente)</c:v>
                </c:pt>
              </c:strCache>
            </c:strRef>
          </c:tx>
          <c:spPr>
            <a:ln w="31750" cap="flat">
              <a:solidFill>
                <a:srgbClr val="A32D2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32D2D"/>
              </a:solidFill>
              <a:ln w="9525" cap="flat">
                <a:solidFill>
                  <a:srgbClr val="A32D2D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19.420000000000002</c:v>
                </c:pt>
                <c:pt idx="1">
                  <c:v>20.54</c:v>
                </c:pt>
                <c:pt idx="2">
                  <c:v>19.72</c:v>
                </c:pt>
                <c:pt idx="3">
                  <c:v>22.01</c:v>
                </c:pt>
                <c:pt idx="4">
                  <c:v>15.04</c:v>
                </c:pt>
                <c:pt idx="5">
                  <c:v>14.8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036-4666-AC98-DDB73078220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Meta (14h)</c:v>
                </c:pt>
              </c:strCache>
            </c:strRef>
          </c:tx>
          <c:spPr>
            <a:ln w="31750" cap="flat">
              <a:solidFill>
                <a:srgbClr val="5B6B7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5B6B73"/>
              </a:solidFill>
              <a:ln w="9525" cap="flat">
                <a:solidFill>
                  <a:srgbClr val="5B6B7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14</c:v>
                </c:pt>
                <c:pt idx="10">
                  <c:v>14</c:v>
                </c:pt>
                <c:pt idx="11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036-4666-AC98-DDB7307822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Calibri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Calibri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B2430"/>
              </a:solidFill>
              <a:latin typeface="Calibri"/>
              <a:cs typeface="Calibri"/>
            </a:defRPr>
          </a:pPr>
          <a:endParaRPr lang="es-CO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(millones COP)</c:v>
                </c:pt>
              </c:strCache>
            </c:strRef>
          </c:tx>
          <c:spPr>
            <a:solidFill>
              <a:srgbClr val="2F6D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8.6</c:v>
                </c:pt>
                <c:pt idx="1">
                  <c:v>24.4</c:v>
                </c:pt>
                <c:pt idx="2">
                  <c:v>20.5</c:v>
                </c:pt>
                <c:pt idx="3">
                  <c:v>15.2</c:v>
                </c:pt>
                <c:pt idx="4">
                  <c:v>9.1999999999999993</c:v>
                </c:pt>
                <c:pt idx="5">
                  <c:v>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72-4E21-9741-4B4A2EC55A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(millones COP)</c:v>
                </c:pt>
              </c:strCache>
            </c:strRef>
          </c:tx>
          <c:spPr>
            <a:solidFill>
              <a:srgbClr val="A32D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15.2</c:v>
                </c:pt>
                <c:pt idx="1">
                  <c:v>13.2</c:v>
                </c:pt>
                <c:pt idx="2">
                  <c:v>13.9</c:v>
                </c:pt>
                <c:pt idx="3">
                  <c:v>40.299999999999997</c:v>
                </c:pt>
                <c:pt idx="4">
                  <c:v>27.3</c:v>
                </c:pt>
                <c:pt idx="5">
                  <c:v>15.8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72-4E21-9741-4B4A2EC55A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txPr>
    <a:bodyPr/>
    <a:lstStyle/>
    <a:p>
      <a:pPr>
        <a:defRPr sz="1400"/>
      </a:pPr>
      <a:endParaRPr lang="es-CO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311A0-1471-6C4C-9B26-A79DF70573C1}" type="datetimeFigureOut">
              <a:rPr lang="es-CO" smtClean="0"/>
              <a:t>8/07/26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99C5D-CB8F-B342-A445-967970FB80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2826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hallazgo mas importante de la sesion. La pregunta para el Comite: por que se acepto el deterioro progresivo sin escalarlo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al responsable de gestion de cartera / EPS-IPS una causa raiz documentada antes de la proxima sesion.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existe para no arrancar en tono de alarma - el Comite necesita ver que hay progreso real antes de escuchar los riesgos.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>
            <a:spLocks noGrp="1"/>
          </p:cNvSpPr>
          <p:nvPr>
            <p:ph type="ctrTitle" hasCustomPrompt="1"/>
          </p:nvPr>
        </p:nvSpPr>
        <p:spPr>
          <a:xfrm>
            <a:off x="6282813" y="1122363"/>
            <a:ext cx="4385187" cy="588450"/>
          </a:xfrm>
        </p:spPr>
        <p:txBody>
          <a:bodyPr anchor="b">
            <a:noAutofit/>
          </a:bodyPr>
          <a:lstStyle>
            <a:lvl1pPr algn="l">
              <a:defRPr sz="3000"/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6" name="Subtítulo 2"/>
          <p:cNvSpPr>
            <a:spLocks noGrp="1"/>
          </p:cNvSpPr>
          <p:nvPr>
            <p:ph type="subTitle" idx="1"/>
          </p:nvPr>
        </p:nvSpPr>
        <p:spPr>
          <a:xfrm>
            <a:off x="6282813" y="2107535"/>
            <a:ext cx="4385188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7" name="Rectángulo 6"/>
          <p:cNvSpPr/>
          <p:nvPr userDrawn="1"/>
        </p:nvSpPr>
        <p:spPr>
          <a:xfrm>
            <a:off x="0" y="0"/>
            <a:ext cx="5637125" cy="6858000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dirty="0"/>
              <a:t>Imagen o fotografía de apoyo</a:t>
            </a:r>
          </a:p>
        </p:txBody>
      </p:sp>
    </p:spTree>
    <p:extLst>
      <p:ext uri="{BB962C8B-B14F-4D97-AF65-F5344CB8AC3E}">
        <p14:creationId xmlns:p14="http://schemas.microsoft.com/office/powerpoint/2010/main" val="314444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ítulo 1"/>
          <p:cNvSpPr>
            <a:spLocks noGrp="1"/>
          </p:cNvSpPr>
          <p:nvPr>
            <p:ph type="title"/>
          </p:nvPr>
        </p:nvSpPr>
        <p:spPr>
          <a:xfrm>
            <a:off x="1524000" y="2074606"/>
            <a:ext cx="9199419" cy="59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 dirty="0"/>
              <a:t>Título</a:t>
            </a:r>
          </a:p>
        </p:txBody>
      </p:sp>
      <p:sp>
        <p:nvSpPr>
          <p:cNvPr id="5" name="Marcador de texto 2"/>
          <p:cNvSpPr>
            <a:spLocks noGrp="1"/>
          </p:cNvSpPr>
          <p:nvPr>
            <p:ph idx="1"/>
          </p:nvPr>
        </p:nvSpPr>
        <p:spPr>
          <a:xfrm>
            <a:off x="1524000" y="3028335"/>
            <a:ext cx="9199419" cy="2291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Texto de apoyo</a:t>
            </a:r>
          </a:p>
        </p:txBody>
      </p:sp>
    </p:spTree>
    <p:extLst>
      <p:ext uri="{BB962C8B-B14F-4D97-AF65-F5344CB8AC3E}">
        <p14:creationId xmlns:p14="http://schemas.microsoft.com/office/powerpoint/2010/main" val="2282267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B1EA1CC-F004-46FD-EF10-090FE19C1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A29C16-0F57-2D4A-9936-0D0CB54DAD77}" type="datetimeFigureOut">
              <a:rPr lang="es-CO"/>
              <a:pPr>
                <a:defRPr/>
              </a:pPr>
              <a:t>8/07/26</a:t>
            </a:fld>
            <a:endParaRPr lang="es-CO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5589414-4B02-D5BD-682E-1F206E025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8084494-8133-BA20-01D2-0900DFCB4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E74A40-8315-2047-BA59-EA7AE0D95761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466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471929"/>
            <a:ext cx="9144000" cy="86375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750"/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451663"/>
            <a:ext cx="9144000" cy="32412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Rectángulo 3"/>
          <p:cNvSpPr/>
          <p:nvPr userDrawn="1"/>
        </p:nvSpPr>
        <p:spPr>
          <a:xfrm>
            <a:off x="1524000" y="1727874"/>
            <a:ext cx="1078523" cy="110532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4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860D0-03E1-5BB5-31A8-A4D85609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448D79-6892-7546-9CA0-FCE42FBE07A1}" type="datetimeFigureOut">
              <a:rPr lang="es-CO"/>
              <a:pPr>
                <a:defRPr/>
              </a:pPr>
              <a:t>8/07/26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A4A62-EDBC-F05F-E2BB-433D760EE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CB6C5-84BF-1A33-77C4-20E82570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31425-ABB3-B14B-BBDA-6ECB05971876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9306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0030592-5CAC-1535-1248-9DA78C827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E9507-B8F4-CA4F-BD09-3CF24447D7F7}" type="datetimeFigureOut">
              <a:rPr lang="es-CO"/>
              <a:pPr>
                <a:defRPr/>
              </a:pPr>
              <a:t>8/07/26</a:t>
            </a:fld>
            <a:endParaRPr lang="es-CO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6DCE5F5-1AE1-1D5A-BB47-246CA9D2C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E056BC5-265C-3B15-5B33-24ED4116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27909-E8DA-704B-B56A-A083B5CD9F67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6896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37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5"/>
            <a:ext cx="9144000" cy="86375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750"/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451663"/>
            <a:ext cx="9144000" cy="32412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26605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5"/>
            <a:ext cx="9144000" cy="86375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750"/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451663"/>
            <a:ext cx="9144000" cy="32412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1466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524000" y="2074606"/>
            <a:ext cx="9199419" cy="59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 dirty="0"/>
              <a:t>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524000" y="3028335"/>
            <a:ext cx="9199419" cy="2291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Texto de apoyo</a:t>
            </a:r>
          </a:p>
        </p:txBody>
      </p:sp>
    </p:spTree>
    <p:extLst>
      <p:ext uri="{BB962C8B-B14F-4D97-AF65-F5344CB8AC3E}">
        <p14:creationId xmlns:p14="http://schemas.microsoft.com/office/powerpoint/2010/main" val="411544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1" r:id="rId7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750" b="1" kern="1200">
          <a:solidFill>
            <a:srgbClr val="048E49"/>
          </a:solidFill>
          <a:latin typeface="+mj-lt"/>
          <a:ea typeface="+mj-ea"/>
          <a:cs typeface="+mj-cs"/>
        </a:defRPr>
      </a:lvl1pPr>
    </p:titleStyle>
    <p:bodyStyle>
      <a:lvl1pPr marL="171450" indent="-171450" algn="ctr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ítulo 1"/>
          <p:cNvSpPr>
            <a:spLocks noGrp="1"/>
          </p:cNvSpPr>
          <p:nvPr>
            <p:ph type="title"/>
          </p:nvPr>
        </p:nvSpPr>
        <p:spPr>
          <a:xfrm>
            <a:off x="1524000" y="1091383"/>
            <a:ext cx="9199419" cy="59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 dirty="0"/>
              <a:t>Título</a:t>
            </a:r>
          </a:p>
        </p:txBody>
      </p:sp>
      <p:sp>
        <p:nvSpPr>
          <p:cNvPr id="7" name="Marcador de texto 2"/>
          <p:cNvSpPr>
            <a:spLocks noGrp="1"/>
          </p:cNvSpPr>
          <p:nvPr>
            <p:ph type="body" idx="1"/>
          </p:nvPr>
        </p:nvSpPr>
        <p:spPr>
          <a:xfrm>
            <a:off x="1524000" y="2524991"/>
            <a:ext cx="9199419" cy="2795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Texto de apoyo</a:t>
            </a:r>
          </a:p>
        </p:txBody>
      </p:sp>
      <p:sp>
        <p:nvSpPr>
          <p:cNvPr id="8" name="Rectángulo 7"/>
          <p:cNvSpPr/>
          <p:nvPr userDrawn="1"/>
        </p:nvSpPr>
        <p:spPr>
          <a:xfrm>
            <a:off x="1524001" y="2150347"/>
            <a:ext cx="1078523" cy="110532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</p:spTree>
    <p:extLst>
      <p:ext uri="{BB962C8B-B14F-4D97-AF65-F5344CB8AC3E}">
        <p14:creationId xmlns:p14="http://schemas.microsoft.com/office/powerpoint/2010/main" val="101858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7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60125" y="1091383"/>
            <a:ext cx="5093676" cy="59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/>
              <a:t>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60124" y="2241263"/>
            <a:ext cx="5093677" cy="3255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Texto de apoyo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0"/>
            <a:ext cx="5637125" cy="6858000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dirty="0"/>
              <a:t>Imagen o fotografía de apoyo</a:t>
            </a:r>
          </a:p>
        </p:txBody>
      </p:sp>
      <p:sp>
        <p:nvSpPr>
          <p:cNvPr id="5" name="Rectángulo 4"/>
          <p:cNvSpPr/>
          <p:nvPr userDrawn="1"/>
        </p:nvSpPr>
        <p:spPr>
          <a:xfrm>
            <a:off x="6260124" y="1848897"/>
            <a:ext cx="1078523" cy="110532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</p:spTree>
    <p:extLst>
      <p:ext uri="{BB962C8B-B14F-4D97-AF65-F5344CB8AC3E}">
        <p14:creationId xmlns:p14="http://schemas.microsoft.com/office/powerpoint/2010/main" val="418346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6C2E8-02A9-8706-D617-224814C82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400" b="1" dirty="0"/>
              <a:t>PREXO Giro Cama Institucional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069451-6944-B2F3-A20D-E23D83381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611" y="4702589"/>
            <a:ext cx="10504479" cy="599307"/>
          </a:xfrm>
        </p:spPr>
        <p:txBody>
          <a:bodyPr>
            <a:normAutofit/>
          </a:bodyPr>
          <a:lstStyle/>
          <a:p>
            <a:r>
              <a:rPr lang="es-CO" sz="2400" dirty="0">
                <a:solidFill>
                  <a:schemeClr val="bg1">
                    <a:lumMod val="65000"/>
                  </a:schemeClr>
                </a:solidFill>
              </a:rPr>
              <a:t>Avance del proyecto y hallazgo crítico — Comité PREXO · Julio 9 2026</a:t>
            </a:r>
          </a:p>
          <a:p>
            <a:endParaRPr lang="es-CO" sz="2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69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D22BC-EECD-F66F-C1BD-8D26297C10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Tareas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305926-613E-956F-2D59-BBE11E9628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80990" indent="-380990">
              <a:buFont typeface="Arial" panose="020B0604020202020204" pitchFamily="34" charset="0"/>
              <a:buChar char="•"/>
            </a:pPr>
            <a:endParaRPr lang="es-CO" dirty="0"/>
          </a:p>
          <a:p>
            <a:pPr marL="457189" indent="-457189">
              <a:buFont typeface="+mj-lt"/>
              <a:buAutoNum type="arabicPeriod"/>
            </a:pPr>
            <a:r>
              <a:rPr lang="es-CO" dirty="0"/>
              <a:t>Cambiar el especialista de MI para pasar las rondas</a:t>
            </a:r>
          </a:p>
          <a:p>
            <a:pPr marL="457189" indent="-457189">
              <a:buFont typeface="+mj-lt"/>
              <a:buAutoNum type="arabicPeriod"/>
            </a:pPr>
            <a:r>
              <a:rPr lang="es-CO" dirty="0"/>
              <a:t>Iniciar la revista a las 7:00 am</a:t>
            </a:r>
          </a:p>
          <a:p>
            <a:pPr marL="457189" indent="-457189">
              <a:buFont typeface="+mj-lt"/>
              <a:buAutoNum type="arabicPeriod"/>
            </a:pPr>
            <a:r>
              <a:rPr lang="es-CO" dirty="0"/>
              <a:t>Priorizar en las rondas los pacientes con prealta</a:t>
            </a:r>
          </a:p>
          <a:p>
            <a:pPr marL="457189" indent="-457189">
              <a:buFont typeface="+mj-lt"/>
              <a:buAutoNum type="arabicPeriod"/>
            </a:pPr>
            <a:r>
              <a:rPr lang="es-CO" dirty="0"/>
              <a:t>Implementar la fecha estimada de egreso (FEE) cuando el paciente ingresa a hospitalización</a:t>
            </a:r>
          </a:p>
          <a:p>
            <a:pPr marL="457189" indent="-457189">
              <a:buFont typeface="+mj-lt"/>
              <a:buAutoNum type="arabicPeriod"/>
            </a:pPr>
            <a:r>
              <a:rPr lang="es-CO" dirty="0"/>
              <a:t>Medir el delta del FEE y la fecha de egreso efectivo</a:t>
            </a:r>
          </a:p>
        </p:txBody>
      </p:sp>
    </p:spTree>
    <p:extLst>
      <p:ext uri="{BB962C8B-B14F-4D97-AF65-F5344CB8AC3E}">
        <p14:creationId xmlns:p14="http://schemas.microsoft.com/office/powerpoint/2010/main" val="327227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020EF-5827-88D5-AC2E-EAFC7658F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7833"/>
            <a:ext cx="9144000" cy="863753"/>
          </a:xfrm>
        </p:spPr>
        <p:txBody>
          <a:bodyPr/>
          <a:lstStyle/>
          <a:p>
            <a:r>
              <a:rPr lang="es-CO" dirty="0"/>
              <a:t>Ejecución de tareas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425665-6D6A-4E81-97C2-D3AFF416D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94657"/>
            <a:ext cx="9144000" cy="977337"/>
          </a:xfrm>
        </p:spPr>
        <p:txBody>
          <a:bodyPr/>
          <a:lstStyle/>
          <a:p>
            <a:pPr marL="457189" indent="-457189">
              <a:buFont typeface="+mj-lt"/>
              <a:buAutoNum type="arabicPeriod"/>
            </a:pPr>
            <a:r>
              <a:rPr lang="es-CO" dirty="0"/>
              <a:t>Se contrató a la </a:t>
            </a:r>
            <a:r>
              <a:rPr lang="es-CO" dirty="0" err="1"/>
              <a:t>Dra</a:t>
            </a:r>
            <a:r>
              <a:rPr lang="es-CO" dirty="0"/>
              <a:t> Carolina </a:t>
            </a:r>
            <a:r>
              <a:rPr lang="es-CO" dirty="0" err="1"/>
              <a:t>Murgüeitio</a:t>
            </a:r>
            <a:r>
              <a:rPr lang="es-CO" dirty="0"/>
              <a:t> (15 junio)</a:t>
            </a:r>
          </a:p>
          <a:p>
            <a:pPr marL="457189" indent="-457189">
              <a:buFont typeface="+mj-lt"/>
              <a:buAutoNum type="arabicPeriod"/>
            </a:pPr>
            <a:r>
              <a:rPr lang="es-CO" dirty="0"/>
              <a:t>Se está iniciando la revista a las 7:30 am por temas de laboratorio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9A189F-B6CF-FCC7-2E6F-4CCE7DC22D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0" t="5708"/>
          <a:stretch/>
        </p:blipFill>
        <p:spPr>
          <a:xfrm>
            <a:off x="303145" y="2576872"/>
            <a:ext cx="6027505" cy="3205537"/>
          </a:xfrm>
          <a:prstGeom prst="rect">
            <a:avLst/>
          </a:prstGeom>
        </p:spPr>
      </p:pic>
      <p:sp>
        <p:nvSpPr>
          <p:cNvPr id="5" name="Título 3">
            <a:extLst>
              <a:ext uri="{FF2B5EF4-FFF2-40B4-BE49-F238E27FC236}">
                <a16:creationId xmlns:a16="http://schemas.microsoft.com/office/drawing/2014/main" id="{482AC5D6-E7B2-E807-7A07-4B88E5A3A729}"/>
              </a:ext>
            </a:extLst>
          </p:cNvPr>
          <p:cNvSpPr txBox="1">
            <a:spLocks/>
          </p:cNvSpPr>
          <p:nvPr/>
        </p:nvSpPr>
        <p:spPr>
          <a:xfrm>
            <a:off x="1472769" y="5429796"/>
            <a:ext cx="3739289" cy="599307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13" b="1" kern="1200">
                <a:solidFill>
                  <a:srgbClr val="048E4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467" b="0" dirty="0"/>
              <a:t>Ingresos muestras </a:t>
            </a:r>
            <a:r>
              <a:rPr lang="es-CO" sz="1467" b="0" dirty="0" err="1"/>
              <a:t>Lab</a:t>
            </a:r>
            <a:r>
              <a:rPr lang="es-CO" sz="1467" b="0" dirty="0"/>
              <a:t> por hora/servicio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2754E14-FF13-ADF4-AB36-080BD8CB0B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9" t="4947" r="23469" b="1650"/>
          <a:stretch/>
        </p:blipFill>
        <p:spPr>
          <a:xfrm>
            <a:off x="6308700" y="2576871"/>
            <a:ext cx="5568665" cy="3099620"/>
          </a:xfrm>
          <a:prstGeom prst="rect">
            <a:avLst/>
          </a:prstGeom>
        </p:spPr>
      </p:pic>
      <p:sp>
        <p:nvSpPr>
          <p:cNvPr id="7" name="Título 3">
            <a:extLst>
              <a:ext uri="{FF2B5EF4-FFF2-40B4-BE49-F238E27FC236}">
                <a16:creationId xmlns:a16="http://schemas.microsoft.com/office/drawing/2014/main" id="{065EE90B-FD12-C7CC-E92A-17211CEDB7ED}"/>
              </a:ext>
            </a:extLst>
          </p:cNvPr>
          <p:cNvSpPr txBox="1">
            <a:spLocks/>
          </p:cNvSpPr>
          <p:nvPr/>
        </p:nvSpPr>
        <p:spPr>
          <a:xfrm>
            <a:off x="7122236" y="5429796"/>
            <a:ext cx="5109093" cy="599307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13" b="1" kern="1200">
                <a:solidFill>
                  <a:srgbClr val="048E4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467" b="0" dirty="0"/>
              <a:t>Resultados </a:t>
            </a:r>
            <a:r>
              <a:rPr lang="es-CO" sz="1467" b="0" dirty="0" err="1"/>
              <a:t>Lab</a:t>
            </a:r>
            <a:r>
              <a:rPr lang="es-CO" sz="1467" b="0" dirty="0"/>
              <a:t> validados por hora del día y servicio</a:t>
            </a:r>
          </a:p>
        </p:txBody>
      </p:sp>
    </p:spTree>
    <p:extLst>
      <p:ext uri="{BB962C8B-B14F-4D97-AF65-F5344CB8AC3E}">
        <p14:creationId xmlns:p14="http://schemas.microsoft.com/office/powerpoint/2010/main" val="716497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DFF1C2C0-ABC9-98E8-DE2A-CB742BC48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5958" y="426906"/>
            <a:ext cx="9144000" cy="863753"/>
          </a:xfrm>
        </p:spPr>
        <p:txBody>
          <a:bodyPr/>
          <a:lstStyle/>
          <a:p>
            <a:r>
              <a:rPr lang="es-CO" dirty="0"/>
              <a:t>Revista hospitalización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BDF34329-1F63-3BA6-3B46-4D5150358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5958" y="1290659"/>
            <a:ext cx="9144000" cy="721776"/>
          </a:xfrm>
        </p:spPr>
        <p:txBody>
          <a:bodyPr/>
          <a:lstStyle/>
          <a:p>
            <a:pPr marL="457189" indent="-457189">
              <a:buFont typeface="+mj-lt"/>
              <a:buAutoNum type="arabicPeriod" startAt="3"/>
            </a:pPr>
            <a:r>
              <a:rPr lang="es-CO" dirty="0"/>
              <a:t>Iniciar la revista por las prealtas</a:t>
            </a: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1666CED0-B288-A218-9740-FF9EC7E3B8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7288008"/>
              </p:ext>
            </p:extLst>
          </p:nvPr>
        </p:nvGraphicFramePr>
        <p:xfrm>
          <a:off x="1455958" y="2154412"/>
          <a:ext cx="8550927" cy="4033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8258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014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kern="0" spc="267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EJECUTIVA</a:t>
            </a:r>
            <a:endParaRPr lang="en-US" sz="1533" dirty="0"/>
          </a:p>
        </p:txBody>
      </p:sp>
      <p:sp>
        <p:nvSpPr>
          <p:cNvPr id="3" name="Text 1"/>
          <p:cNvSpPr/>
          <p:nvPr/>
        </p:nvSpPr>
        <p:spPr>
          <a:xfrm>
            <a:off x="609600" y="608661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giro cama institucional mejora de forma sostenida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609600" y="1678745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733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primer semestre, DIME pasó de 8,55 a 9,47 egresos por cama (+10,7%) y la estancia promedio bajó de 3,29 a 3,02 días (-8,2%). HOSP y UCIN ya operan por encima de su meta de giro cama; UCI e institucional se acercan a la suya. El punto de atención para el II semestre es interno: los días de cama inactiva por causas IPS (</a:t>
            </a:r>
            <a:r>
              <a:rPr lang="en-US" sz="1733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</a:t>
            </a:r>
            <a:r>
              <a:rPr lang="en-US" sz="1733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733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</a:t>
            </a:r>
            <a:r>
              <a:rPr lang="en-US" sz="1733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se duplicaron frente a 2025.</a:t>
            </a:r>
          </a:p>
          <a:p>
            <a:pPr>
              <a:lnSpc>
                <a:spcPct val="115000"/>
              </a:lnSpc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8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estancia </a:t>
            </a:r>
            <a:r>
              <a:rPr lang="en-US" sz="18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inactiva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IPS </a:t>
            </a:r>
            <a:r>
              <a:rPr lang="en-US" sz="18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42% </a:t>
            </a:r>
            <a:r>
              <a:rPr lang="en-US" sz="18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 meses de 2026 </a:t>
            </a:r>
            <a:r>
              <a:rPr lang="en-US" sz="18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2025 — </a:t>
            </a:r>
            <a:r>
              <a:rPr lang="en-US" sz="18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causal antes del </a:t>
            </a:r>
            <a:r>
              <a:rPr lang="en-US" sz="18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8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>
              <a:lnSpc>
                <a:spcPct val="115000"/>
              </a:lnSpc>
            </a:pP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609600" y="3230880"/>
            <a:ext cx="3572256" cy="1327052"/>
          </a:xfrm>
          <a:prstGeom prst="roundRect">
            <a:avLst>
              <a:gd name="adj" fmla="val 5143"/>
            </a:avLst>
          </a:prstGeom>
          <a:solidFill>
            <a:srgbClr val="F5F9FA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sz="2400"/>
          </a:p>
        </p:txBody>
      </p:sp>
      <p:sp>
        <p:nvSpPr>
          <p:cNvPr id="6" name="Shape 4"/>
          <p:cNvSpPr/>
          <p:nvPr/>
        </p:nvSpPr>
        <p:spPr>
          <a:xfrm>
            <a:off x="877824" y="3377184"/>
            <a:ext cx="609600" cy="609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 sz="2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72" y="3456432"/>
            <a:ext cx="451104" cy="4511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23761" y="3230880"/>
            <a:ext cx="30358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9,47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1553073" y="381609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5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cama institucional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4106828"/>
            <a:ext cx="303580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8,55 en 2024  ·  meta 10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64736" y="3230880"/>
            <a:ext cx="3572256" cy="1327052"/>
          </a:xfrm>
          <a:prstGeom prst="roundRect">
            <a:avLst>
              <a:gd name="adj" fmla="val 5143"/>
            </a:avLst>
          </a:prstGeom>
          <a:solidFill>
            <a:srgbClr val="F5F9FA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sz="2400"/>
          </a:p>
        </p:txBody>
      </p:sp>
      <p:sp>
        <p:nvSpPr>
          <p:cNvPr id="12" name="Shape 9"/>
          <p:cNvSpPr/>
          <p:nvPr/>
        </p:nvSpPr>
        <p:spPr>
          <a:xfrm>
            <a:off x="4632960" y="3377184"/>
            <a:ext cx="609600" cy="609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 sz="24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208" y="3456432"/>
            <a:ext cx="451104" cy="4511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8581" y="3258546"/>
            <a:ext cx="30358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3,02 días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5422627" y="381609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5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Estancia promedio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88881" y="4103077"/>
            <a:ext cx="303580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3,29 en 2024  ·  -8,2%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19872" y="3230881"/>
            <a:ext cx="3572256" cy="1327052"/>
          </a:xfrm>
          <a:prstGeom prst="roundRect">
            <a:avLst>
              <a:gd name="adj" fmla="val 5143"/>
            </a:avLst>
          </a:prstGeom>
          <a:solidFill>
            <a:srgbClr val="F5F9FA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sz="2400"/>
          </a:p>
        </p:txBody>
      </p:sp>
      <p:sp>
        <p:nvSpPr>
          <p:cNvPr id="18" name="Shape 14"/>
          <p:cNvSpPr/>
          <p:nvPr/>
        </p:nvSpPr>
        <p:spPr>
          <a:xfrm>
            <a:off x="8388096" y="3377184"/>
            <a:ext cx="609600" cy="60960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CO" sz="24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3456432"/>
            <a:ext cx="451104" cy="4511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26062" y="3278718"/>
            <a:ext cx="30358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55,8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9180108" y="3798285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5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inactivos IPS/mes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504389" y="4143873"/>
            <a:ext cx="303580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28,2 en 2025  ·  +98%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64464" y="6289665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5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Tablero KPI PREXO Giro Cama, corte julio 2026. *2026 corresponde a enero–junio (parcial).</a:t>
            </a:r>
            <a:endParaRPr lang="en-US" sz="1133" dirty="0"/>
          </a:p>
        </p:txBody>
      </p:sp>
      <p:sp>
        <p:nvSpPr>
          <p:cNvPr id="24" name="Text 19"/>
          <p:cNvSpPr/>
          <p:nvPr/>
        </p:nvSpPr>
        <p:spPr>
          <a:xfrm>
            <a:off x="609600" y="6559296"/>
            <a:ext cx="91440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5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Clínica Neurocardiovascular  ·  PREXO Capacidad Instalada  ·  Giro Cama</a:t>
            </a:r>
            <a:endParaRPr lang="en-US" sz="1133" dirty="0"/>
          </a:p>
        </p:txBody>
      </p:sp>
      <p:sp>
        <p:nvSpPr>
          <p:cNvPr id="25" name="Text 20"/>
          <p:cNvSpPr/>
          <p:nvPr/>
        </p:nvSpPr>
        <p:spPr>
          <a:xfrm>
            <a:off x="11399520" y="6559296"/>
            <a:ext cx="4876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33" dirty="0">
                <a:solidFill>
                  <a:srgbClr val="5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33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D936CFD8-5389-DB67-973F-C02BD638844D}"/>
              </a:ext>
            </a:extLst>
          </p:cNvPr>
          <p:cNvSpPr/>
          <p:nvPr/>
        </p:nvSpPr>
        <p:spPr>
          <a:xfrm>
            <a:off x="8087282" y="4647497"/>
            <a:ext cx="3604845" cy="1554480"/>
          </a:xfrm>
          <a:prstGeom prst="roundRect">
            <a:avLst>
              <a:gd name="adj" fmla="val 4706"/>
            </a:avLst>
          </a:prstGeom>
          <a:solidFill>
            <a:srgbClr val="F7E6E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BB27CCB4-4E09-717D-D165-835FE6C08388}"/>
              </a:ext>
            </a:extLst>
          </p:cNvPr>
          <p:cNvSpPr/>
          <p:nvPr/>
        </p:nvSpPr>
        <p:spPr>
          <a:xfrm>
            <a:off x="9298978" y="4739875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18.7h</a:t>
            </a:r>
            <a:endParaRPr lang="en-US" sz="30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648CD2E9-037A-4366-E439-70316665A779}"/>
              </a:ext>
            </a:extLst>
          </p:cNvPr>
          <p:cNvSpPr/>
          <p:nvPr/>
        </p:nvSpPr>
        <p:spPr>
          <a:xfrm>
            <a:off x="9208477" y="5306099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Permanencia</a:t>
            </a: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1" dirty="0" err="1">
                <a:solidFill>
                  <a:srgbClr val="1B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en</a:t>
            </a: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1B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urgencias</a:t>
            </a: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1B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por</a:t>
            </a: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PGP</a:t>
            </a: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DC4A27AC-6CE3-6601-EBF4-C40138F76AC6}"/>
              </a:ext>
            </a:extLst>
          </p:cNvPr>
          <p:cNvSpPr/>
          <p:nvPr/>
        </p:nvSpPr>
        <p:spPr>
          <a:xfrm>
            <a:off x="8224443" y="5836217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14h</a:t>
            </a:r>
            <a:endParaRPr lang="en-US" sz="95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8D209A8F-D3D9-695B-D417-207C633CBE8A}"/>
              </a:ext>
            </a:extLst>
          </p:cNvPr>
          <p:cNvSpPr/>
          <p:nvPr/>
        </p:nvSpPr>
        <p:spPr>
          <a:xfrm>
            <a:off x="609599" y="4716428"/>
            <a:ext cx="3572256" cy="1554480"/>
          </a:xfrm>
          <a:prstGeom prst="roundRect">
            <a:avLst>
              <a:gd name="adj" fmla="val 4706"/>
            </a:avLst>
          </a:prstGeom>
          <a:solidFill>
            <a:srgbClr val="E4EFE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AD09A38F-3079-9959-DC35-E3D5163FE48A}"/>
              </a:ext>
            </a:extLst>
          </p:cNvPr>
          <p:cNvSpPr/>
          <p:nvPr/>
        </p:nvSpPr>
        <p:spPr>
          <a:xfrm>
            <a:off x="1710162" y="4793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6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00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37706411-1FD2-32F1-B22F-7AC5B0A47A0A}"/>
              </a:ext>
            </a:extLst>
          </p:cNvPr>
          <p:cNvSpPr/>
          <p:nvPr/>
        </p:nvSpPr>
        <p:spPr>
          <a:xfrm>
            <a:off x="1631617" y="5362725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Reingresos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UCI/UCIN/Hosp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F0FBF6A9-5C6F-9BC0-E152-264FD2ECDBE1}"/>
              </a:ext>
            </a:extLst>
          </p:cNvPr>
          <p:cNvSpPr/>
          <p:nvPr/>
        </p:nvSpPr>
        <p:spPr>
          <a:xfrm>
            <a:off x="746760" y="59051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0%</a:t>
            </a:r>
            <a:endParaRPr lang="en-US" sz="950" dirty="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7FBD8546-2C84-B2A3-33E0-017F92892EE9}"/>
              </a:ext>
            </a:extLst>
          </p:cNvPr>
          <p:cNvSpPr/>
          <p:nvPr/>
        </p:nvSpPr>
        <p:spPr>
          <a:xfrm>
            <a:off x="4395918" y="4704002"/>
            <a:ext cx="3572256" cy="1554480"/>
          </a:xfrm>
          <a:prstGeom prst="roundRect">
            <a:avLst>
              <a:gd name="adj" fmla="val 4706"/>
            </a:avLst>
          </a:prstGeom>
          <a:solidFill>
            <a:srgbClr val="E4EFE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2C449F2F-A8ED-2A66-083A-87B735135DE7}"/>
              </a:ext>
            </a:extLst>
          </p:cNvPr>
          <p:cNvSpPr/>
          <p:nvPr/>
        </p:nvSpPr>
        <p:spPr>
          <a:xfrm>
            <a:off x="5698938" y="4809509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6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6.2h</a:t>
            </a:r>
            <a:endParaRPr lang="en-US" sz="300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5BE7031B-C7DF-3DCF-5558-D174CF6AF7B6}"/>
              </a:ext>
            </a:extLst>
          </p:cNvPr>
          <p:cNvSpPr/>
          <p:nvPr/>
        </p:nvSpPr>
        <p:spPr>
          <a:xfrm>
            <a:off x="5486163" y="52955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Oportunidad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cirugía (H1-26)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296255E3-6B58-DC75-CEEF-6ED32406698D}"/>
              </a:ext>
            </a:extLst>
          </p:cNvPr>
          <p:cNvSpPr/>
          <p:nvPr/>
        </p:nvSpPr>
        <p:spPr>
          <a:xfrm>
            <a:off x="4533078" y="589272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may-jun, meta 20h</a:t>
            </a:r>
            <a:endParaRPr lang="en-US" sz="950" dirty="0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1AC40E16-E748-68CC-28BE-A020EDB7839B}"/>
              </a:ext>
            </a:extLst>
          </p:cNvPr>
          <p:cNvSpPr/>
          <p:nvPr/>
        </p:nvSpPr>
        <p:spPr>
          <a:xfrm>
            <a:off x="877824" y="4838467"/>
            <a:ext cx="609600" cy="609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 sz="2400"/>
          </a:p>
        </p:txBody>
      </p:sp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11E3ED98-5777-96FD-AE57-29F0D861C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72" y="4917715"/>
            <a:ext cx="451104" cy="451104"/>
          </a:xfrm>
          <a:prstGeom prst="rect">
            <a:avLst/>
          </a:prstGeom>
        </p:spPr>
      </p:pic>
      <p:sp>
        <p:nvSpPr>
          <p:cNvPr id="44" name="Shape 9">
            <a:extLst>
              <a:ext uri="{FF2B5EF4-FFF2-40B4-BE49-F238E27FC236}">
                <a16:creationId xmlns:a16="http://schemas.microsoft.com/office/drawing/2014/main" id="{1F57988B-CD21-3489-32FB-ABD5618C4881}"/>
              </a:ext>
            </a:extLst>
          </p:cNvPr>
          <p:cNvSpPr/>
          <p:nvPr/>
        </p:nvSpPr>
        <p:spPr>
          <a:xfrm>
            <a:off x="4673521" y="4823812"/>
            <a:ext cx="609600" cy="609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 sz="2400"/>
          </a:p>
        </p:txBody>
      </p:sp>
      <p:pic>
        <p:nvPicPr>
          <p:cNvPr id="45" name="Image 1" descr="preencoded.png">
            <a:extLst>
              <a:ext uri="{FF2B5EF4-FFF2-40B4-BE49-F238E27FC236}">
                <a16:creationId xmlns:a16="http://schemas.microsoft.com/office/drawing/2014/main" id="{FC432DF1-3D82-89B5-33A1-FC7DCC5E5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769" y="4903060"/>
            <a:ext cx="451104" cy="451104"/>
          </a:xfrm>
          <a:prstGeom prst="rect">
            <a:avLst/>
          </a:prstGeom>
        </p:spPr>
      </p:pic>
      <p:sp>
        <p:nvSpPr>
          <p:cNvPr id="46" name="Shape 14">
            <a:extLst>
              <a:ext uri="{FF2B5EF4-FFF2-40B4-BE49-F238E27FC236}">
                <a16:creationId xmlns:a16="http://schemas.microsoft.com/office/drawing/2014/main" id="{3906B054-6955-28DB-CCE2-86F2C908EBAC}"/>
              </a:ext>
            </a:extLst>
          </p:cNvPr>
          <p:cNvSpPr/>
          <p:nvPr/>
        </p:nvSpPr>
        <p:spPr>
          <a:xfrm>
            <a:off x="8367227" y="4751129"/>
            <a:ext cx="609600" cy="60960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CO" sz="2400"/>
          </a:p>
        </p:txBody>
      </p:sp>
      <p:pic>
        <p:nvPicPr>
          <p:cNvPr id="47" name="Image 2" descr="preencoded.png">
            <a:extLst>
              <a:ext uri="{FF2B5EF4-FFF2-40B4-BE49-F238E27FC236}">
                <a16:creationId xmlns:a16="http://schemas.microsoft.com/office/drawing/2014/main" id="{B5BE2B7F-E5E7-57A8-517B-037B7028E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6475" y="4830377"/>
            <a:ext cx="451104" cy="4511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32D2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2976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 1 · Permanencia en urgencias se deteriora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3444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sostenida desde 2024 — no es un mes aislado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37160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8092440" y="137160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7E6E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4"/>
          <p:cNvSpPr/>
          <p:nvPr/>
        </p:nvSpPr>
        <p:spPr>
          <a:xfrm>
            <a:off x="8321040" y="1600200"/>
            <a:ext cx="3063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</a:t>
            </a:r>
            <a:endParaRPr lang="en-US" sz="30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en H1-2026 vs 2025 (18.7h vs 15.7h)</a:t>
            </a:r>
            <a:endParaRPr lang="en-US" sz="30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internacional en servicios de alta complejidad: 3–6 horas tras programas de mejora de flujo.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está aproximadamente 3 veces por encima de ese referente.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PREXO Giro Cama  |  DIME Clinica Neurocardiovascular  |  Comite de Seguimiento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11277600" cy="685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s-CO" sz="3200" b="1" dirty="0">
                <a:solidFill>
                  <a:srgbClr val="44546A"/>
                </a:solidFill>
              </a:rPr>
              <a:t>Conclusión ejecutiva</a:t>
            </a:r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11277600" cy="5257800"/>
          </a:xfrm>
          <a:prstGeom prst="roundRect">
            <a:avLst>
              <a:gd name="adj" fmla="val 3000"/>
            </a:avLst>
          </a:prstGeom>
          <a:noFill/>
          <a:ln>
            <a:noFill/>
          </a:ln>
          <a:effectLst>
            <a:outerShdw blurRad="90000" dist="300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Body"/>
          <p:cNvSpPr txBox="1"/>
          <p:nvPr/>
        </p:nvSpPr>
        <p:spPr>
          <a:xfrm>
            <a:off x="914400" y="1524000"/>
            <a:ext cx="10363200" cy="4495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s-CO" sz="3200" b="1" dirty="0">
                <a:solidFill>
                  <a:srgbClr val="ED7D31"/>
                </a:solidFill>
              </a:rPr>
              <a:t>Hallazgo crítico: </a:t>
            </a:r>
            <a:r>
              <a:rPr lang="es-CO" sz="3200" dirty="0">
                <a:solidFill>
                  <a:srgbClr val="262626"/>
                </a:solidFill>
              </a:rPr>
              <a:t>la desaceleración del giro cama y el deterioro de estancias inactivas en 2026 coinciden casi exactamente con el fin del PGP de Sanitas el 15 de abril.</a:t>
            </a:r>
          </a:p>
          <a:p>
            <a:pPr marL="0" indent="0">
              <a:buNone/>
            </a:pPr>
            <a:endParaRPr lang="es-CO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32D2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2976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 2 · Costo de estancia inactiva (IPS) se disparó</a:t>
            </a:r>
            <a:endParaRPr lang="en-US" sz="24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505468335"/>
              </p:ext>
            </p:extLst>
          </p:nvPr>
        </p:nvGraphicFramePr>
        <p:xfrm>
          <a:off x="548640" y="137160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8092440" y="137160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7E6E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4"/>
          <p:cNvSpPr/>
          <p:nvPr/>
        </p:nvSpPr>
        <p:spPr>
          <a:xfrm>
            <a:off x="8321040" y="1600200"/>
            <a:ext cx="3063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$126.1M</a:t>
            </a:r>
            <a:endParaRPr lang="en-US" sz="260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en 6 meses de 2026</a:t>
            </a:r>
            <a:endParaRPr lang="en-US" sz="32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$217.2M</a:t>
            </a:r>
            <a:endParaRPr lang="en-US" sz="28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en los 12 meses de 2025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y mayo concentran el 63% del gasto del semestre — señal de un evento o cambio de proceso reciente, no de una tendencia gradual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PREXO Giro Cama  |  DIME Clinica Neurocardiovascular  |  Comite de Seguimiento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C7CD25B-5023-2EDD-AA3A-273F9A3B6BD0}"/>
              </a:ext>
            </a:extLst>
          </p:cNvPr>
          <p:cNvSpPr txBox="1"/>
          <p:nvPr/>
        </p:nvSpPr>
        <p:spPr>
          <a:xfrm>
            <a:off x="658368" y="926663"/>
            <a:ext cx="8978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dirty="0"/>
              <a:t>El segundo trimestre de 2026 se incrementó en 88% las estancias Inactivas comparado con el I trimestre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está funcionando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el avance antes de entrar a las alertas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4EFE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6733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184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UCI y UCIN en zona verde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22860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cama UCI 2025: 9.43 (meta 8.8). UCIN H1-2026: 14.83 (meta 15). Son los servicios más eficientes de la institución.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4EFE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67335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6184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Cirugía y hemodinamia se recuperaron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28232" y="22860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pico de abril (32.1h) fue puntual. Mayo y junio cerraron en 6.2h, muy por debajo de la meta de 20h.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7490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4EFE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00507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9502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Reingresos en cero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04672" y="46177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UCI, UCIN y hospitalización mantienen 0% de reingresos durante todo 2025 y el primer semestre de 2026.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37490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4EFE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400507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39502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Estancias UCI/UCIN bajo control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428232" y="46177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Estancia UCI H1-2026: 3.23 días (meta 3.5). UCIN: 2.36 días (meta 2.5). Ambas por debajo del umbral.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PREXO Giro Cama  |  DIME Clinica Neurocardiovascular  |  Comite de Seguimiento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11277600" cy="685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s-CO" sz="3200" b="1" dirty="0">
                <a:solidFill>
                  <a:srgbClr val="44546A"/>
                </a:solidFill>
              </a:rPr>
              <a:t>Evolución del giro cama institucional</a:t>
            </a:r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11277600" cy="5257800"/>
          </a:xfrm>
          <a:prstGeom prst="roundRect">
            <a:avLst>
              <a:gd name="adj" fmla="val 3000"/>
            </a:avLst>
          </a:prstGeom>
          <a:noFill/>
          <a:ln>
            <a:noFill/>
          </a:ln>
          <a:effectLst>
            <a:outerShdw blurRad="90000" dist="300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914400" y="1600200"/>
          <a:ext cx="6400800" cy="2286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Periodo (ene-jun)</a:t>
                      </a:r>
                    </a:p>
                  </a:txBody>
                  <a:tcPr marL="45720" marR="45720" marT="22860" marB="2286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Giro cama</a:t>
                      </a:r>
                    </a:p>
                  </a:txBody>
                  <a:tcPr marL="45720" marR="45720" marT="22860" marB="2286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Var. vs. periodo anterior</a:t>
                      </a:r>
                    </a:p>
                  </a:txBody>
                  <a:tcPr marL="45720" marR="45720" marT="22860" marB="22860"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>
                          <a:solidFill>
                            <a:srgbClr val="44546A"/>
                          </a:solidFill>
                        </a:rPr>
                        <a:t>2024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>
                          <a:solidFill>
                            <a:srgbClr val="44546A"/>
                          </a:solidFill>
                        </a:rPr>
                        <a:t>8,54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>
                          <a:solidFill>
                            <a:srgbClr val="44546A"/>
                          </a:solidFill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>
                          <a:solidFill>
                            <a:srgbClr val="44546A"/>
                          </a:solidFill>
                        </a:rPr>
                        <a:t>2025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>
                          <a:solidFill>
                            <a:srgbClr val="44546A"/>
                          </a:solidFill>
                        </a:rPr>
                        <a:t>9,25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>
                          <a:solidFill>
                            <a:srgbClr val="44546A"/>
                          </a:solidFill>
                        </a:rPr>
                        <a:t>+8,3%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ED7D31"/>
                          </a:solidFill>
                        </a:rPr>
                        <a:t>2026</a:t>
                      </a:r>
                    </a:p>
                  </a:txBody>
                  <a:tcPr marL="45720" marR="45720" marT="22860" marB="22860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ED7D31"/>
                          </a:solidFill>
                        </a:rPr>
                        <a:t>9,47</a:t>
                      </a:r>
                    </a:p>
                  </a:txBody>
                  <a:tcPr marL="45720" marR="45720" marT="22860" marB="22860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ED7D31"/>
                          </a:solidFill>
                        </a:rPr>
                        <a:t>+2,4%</a:t>
                      </a:r>
                    </a:p>
                  </a:txBody>
                  <a:tcPr marL="45720" marR="45720" marT="22860" marB="22860" anchor="ctr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tatBox"/>
          <p:cNvSpPr/>
          <p:nvPr/>
        </p:nvSpPr>
        <p:spPr>
          <a:xfrm>
            <a:off x="7772400" y="160020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44546A"/>
          </a:solidFill>
          <a:ln>
            <a:noFill/>
          </a:ln>
        </p:spPr>
        <p:txBody>
          <a:bodyPr lIns="91440" rIns="91440" anchor="ctr"/>
          <a:lstStyle/>
          <a:p>
            <a:pPr algn="ctr"/>
            <a:r>
              <a:rPr lang="es-CO" sz="1400" dirty="0">
                <a:solidFill>
                  <a:srgbClr val="CADCFC"/>
                </a:solidFill>
              </a:rPr>
              <a:t>META</a:t>
            </a:r>
          </a:p>
          <a:p>
            <a:pPr algn="ctr"/>
            <a:r>
              <a:rPr lang="es-CO" sz="4400" b="1" dirty="0">
                <a:solidFill>
                  <a:srgbClr val="FFFFFF"/>
                </a:solidFill>
              </a:rPr>
              <a:t>10</a:t>
            </a:r>
          </a:p>
          <a:p>
            <a:pPr algn="ctr"/>
            <a:r>
              <a:rPr lang="es-CO" sz="1400" dirty="0">
                <a:solidFill>
                  <a:srgbClr val="CADCFC"/>
                </a:solidFill>
              </a:rPr>
              <a:t>aún no alcanzada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914400" y="4114800"/>
            <a:ext cx="10363200" cy="2286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/>
              <a:buChar char="•"/>
            </a:pPr>
            <a:r>
              <a:rPr lang="es-CO" sz="1800" dirty="0">
                <a:solidFill>
                  <a:srgbClr val="262626"/>
                </a:solidFill>
              </a:rPr>
              <a:t>El ritmo de mejora se está desacelerando: +8,3% en 2025 vs. solo +2,4% en 2026 (ene-jun).</a:t>
            </a:r>
          </a:p>
          <a:p>
            <a:pPr marL="342900" indent="-342900">
              <a:buFont typeface="Arial"/>
              <a:buChar char="•"/>
            </a:pPr>
            <a:r>
              <a:rPr lang="es-CO" sz="1800" dirty="0">
                <a:solidFill>
                  <a:srgbClr val="262626"/>
                </a:solidFill>
              </a:rPr>
              <a:t>El comportamiento del primer semestre de 2026 explica esa desaceleración — ver siguiente diapositiva.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11277600" cy="685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s-CO" sz="3200" b="1" dirty="0">
                <a:solidFill>
                  <a:srgbClr val="44546A"/>
                </a:solidFill>
              </a:rPr>
              <a:t>El quiebre de abril 2026</a:t>
            </a:r>
          </a:p>
        </p:txBody>
      </p:sp>
      <p:sp>
        <p:nvSpPr>
          <p:cNvPr id="3" name="Card"/>
          <p:cNvSpPr/>
          <p:nvPr/>
        </p:nvSpPr>
        <p:spPr>
          <a:xfrm>
            <a:off x="457200" y="1154430"/>
            <a:ext cx="11277600" cy="5257800"/>
          </a:xfrm>
          <a:prstGeom prst="roundRect">
            <a:avLst>
              <a:gd name="adj" fmla="val 3000"/>
            </a:avLst>
          </a:prstGeom>
          <a:noFill/>
          <a:ln>
            <a:noFill/>
          </a:ln>
          <a:effectLst>
            <a:outerShdw blurRad="90000" dist="300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505395"/>
              </p:ext>
            </p:extLst>
          </p:nvPr>
        </p:nvGraphicFramePr>
        <p:xfrm>
          <a:off x="685800" y="1600200"/>
          <a:ext cx="10820400" cy="25146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es-CO" sz="1300" b="1" dirty="0">
                          <a:solidFill>
                            <a:srgbClr val="FFFFFF"/>
                          </a:solidFill>
                        </a:rPr>
                        <a:t>Indicador (2026)</a:t>
                      </a:r>
                    </a:p>
                  </a:txBody>
                  <a:tcPr marL="45720" marR="45720" marT="22860" marB="2286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1" dirty="0">
                          <a:solidFill>
                            <a:srgbClr val="FFFFFF"/>
                          </a:solidFill>
                        </a:rPr>
                        <a:t>Ene-Mar (con PGP)</a:t>
                      </a:r>
                    </a:p>
                  </a:txBody>
                  <a:tcPr marL="45720" marR="45720" marT="22860" marB="2286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1" dirty="0">
                          <a:solidFill>
                            <a:srgbClr val="FFFFFF"/>
                          </a:solidFill>
                        </a:rPr>
                        <a:t>Abr-Jun (sin PGP)</a:t>
                      </a:r>
                    </a:p>
                  </a:txBody>
                  <a:tcPr marL="45720" marR="45720" marT="22860" marB="2286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1" dirty="0">
                          <a:solidFill>
                            <a:srgbClr val="FFFFFF"/>
                          </a:solidFill>
                        </a:rPr>
                        <a:t>Variación</a:t>
                      </a:r>
                    </a:p>
                  </a:txBody>
                  <a:tcPr marL="45720" marR="45720" marT="22860" marB="22860"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Giro cama institucional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9,62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9,31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-3,2%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Estancias inactivas institucionales (días/mes)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129,3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158,0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+22%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es-CO" sz="1300" b="1" dirty="0">
                          <a:solidFill>
                            <a:srgbClr val="ED7D31"/>
                          </a:solidFill>
                        </a:rPr>
                        <a:t>Estancias inactivas atribuidas a IPS (días/mes)</a:t>
                      </a:r>
                    </a:p>
                  </a:txBody>
                  <a:tcPr marL="45720" marR="45720" marT="22860" marB="22860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1" dirty="0">
                          <a:solidFill>
                            <a:srgbClr val="ED7D31"/>
                          </a:solidFill>
                        </a:rPr>
                        <a:t>21,3</a:t>
                      </a:r>
                    </a:p>
                  </a:txBody>
                  <a:tcPr marL="45720" marR="45720" marT="22860" marB="22860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1" dirty="0">
                          <a:solidFill>
                            <a:srgbClr val="ED7D31"/>
                          </a:solidFill>
                        </a:rPr>
                        <a:t>42</a:t>
                      </a:r>
                    </a:p>
                  </a:txBody>
                  <a:tcPr marL="45720" marR="45720" marT="22860" marB="22860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1" dirty="0">
                          <a:solidFill>
                            <a:srgbClr val="ED7D31"/>
                          </a:solidFill>
                        </a:rPr>
                        <a:t>97%</a:t>
                      </a:r>
                    </a:p>
                  </a:txBody>
                  <a:tcPr marL="45720" marR="45720" marT="22860" marB="22860" anchor="ctr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Body"/>
          <p:cNvSpPr txBox="1"/>
          <p:nvPr/>
        </p:nvSpPr>
        <p:spPr>
          <a:xfrm>
            <a:off x="914400" y="4419600"/>
            <a:ext cx="10363200" cy="1600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/>
              <a:buChar char="•"/>
            </a:pPr>
            <a:r>
              <a:rPr lang="es-CO" sz="1900" b="1" dirty="0">
                <a:solidFill>
                  <a:srgbClr val="ED7D31"/>
                </a:solidFill>
              </a:rPr>
              <a:t>Fecha clave: </a:t>
            </a:r>
            <a:r>
              <a:rPr lang="es-CO" sz="1900" dirty="0">
                <a:solidFill>
                  <a:srgbClr val="262626"/>
                </a:solidFill>
              </a:rPr>
              <a:t>El PGP con Sanitas terminó el 15 de abril de 2026.</a:t>
            </a:r>
          </a:p>
          <a:p>
            <a:pPr marL="342900" indent="-342900">
              <a:buFont typeface="Arial"/>
              <a:buChar char="•"/>
            </a:pPr>
            <a:r>
              <a:rPr lang="es-CO" sz="1900" dirty="0">
                <a:solidFill>
                  <a:srgbClr val="262626"/>
                </a:solidFill>
              </a:rPr>
              <a:t>El salto en estancias inactivas por IPS (97%) está demasiado bien sincronizado con esa fecha para ser casualidad.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11277600" cy="685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s-CO" sz="3200" b="1" dirty="0">
                <a:solidFill>
                  <a:srgbClr val="44546A"/>
                </a:solidFill>
              </a:rPr>
              <a:t>Por qué ocurre esto</a:t>
            </a:r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11277600" cy="5257800"/>
          </a:xfrm>
          <a:prstGeom prst="roundRect">
            <a:avLst>
              <a:gd name="adj" fmla="val 3000"/>
            </a:avLst>
          </a:prstGeom>
          <a:noFill/>
          <a:ln>
            <a:noFill/>
          </a:ln>
          <a:effectLst>
            <a:outerShdw blurRad="90000" dist="300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es-CO" dirty="0"/>
          </a:p>
        </p:txBody>
      </p:sp>
      <p:sp>
        <p:nvSpPr>
          <p:cNvPr id="4" name="Body"/>
          <p:cNvSpPr txBox="1"/>
          <p:nvPr/>
        </p:nvSpPr>
        <p:spPr>
          <a:xfrm>
            <a:off x="914400" y="1524000"/>
            <a:ext cx="10363200" cy="4800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342900" indent="-342900">
              <a:buFont typeface="Arial"/>
              <a:buChar char="•"/>
            </a:pPr>
            <a:r>
              <a:rPr lang="es-CO" sz="1800" dirty="0">
                <a:solidFill>
                  <a:srgbClr val="262626"/>
                </a:solidFill>
              </a:rPr>
              <a:t>Un PGP (Pago Global Prospectivo) reemplaza el pago por evento con una tarifa prospectiva fija, eliminando la necesidad de autorizar y auditar cada servicio individualmente.</a:t>
            </a:r>
          </a:p>
          <a:p>
            <a:endParaRPr lang="es-CO" sz="1800" dirty="0">
              <a:solidFill>
                <a:srgbClr val="262626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s-CO" sz="1800" dirty="0">
                <a:solidFill>
                  <a:srgbClr val="262626"/>
                </a:solidFill>
              </a:rPr>
              <a:t>Al terminar el PGP, esos servicios volvieron a un esquema de pago por evento con Sanitas: cada egreso vuelve a requerir autorización y auditoría interna antes de facturar.</a:t>
            </a:r>
          </a:p>
          <a:p>
            <a:endParaRPr lang="es-CO" sz="1800" dirty="0">
              <a:solidFill>
                <a:srgbClr val="262626"/>
              </a:solidFill>
            </a:endParaRPr>
          </a:p>
          <a:p>
            <a:r>
              <a:rPr lang="es-CO" sz="1800" b="1" dirty="0">
                <a:solidFill>
                  <a:srgbClr val="ED7D31"/>
                </a:solidFill>
              </a:rPr>
              <a:t>Hipótesis de trabajo: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rgbClr val="262626"/>
                </a:solidFill>
              </a:rPr>
              <a:t>Ese tiempo de validación administrativa es, muy probablemente, lo que hoy se está registrando como “estancia inactiva por EPS”.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rgbClr val="262626"/>
                </a:solidFill>
              </a:rPr>
              <a:t>El incremento de días en estancia inactiva por IPS está relacionada con no disponibilidad de insumos por bloqueo de proveedores por incremento en meses de pago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800" dirty="0">
              <a:solidFill>
                <a:srgbClr val="262626"/>
              </a:solidFill>
            </a:endParaRPr>
          </a:p>
          <a:p>
            <a:endParaRPr lang="es-CO" sz="18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050B5CD-3E50-8EA0-5621-4BB0A6BA9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90225"/>
              </p:ext>
            </p:extLst>
          </p:nvPr>
        </p:nvGraphicFramePr>
        <p:xfrm>
          <a:off x="849086" y="2113935"/>
          <a:ext cx="4612530" cy="1948744"/>
        </p:xfrm>
        <a:graphic>
          <a:graphicData uri="http://schemas.openxmlformats.org/drawingml/2006/table">
            <a:tbl>
              <a:tblPr/>
              <a:tblGrid>
                <a:gridCol w="1340394">
                  <a:extLst>
                    <a:ext uri="{9D8B030D-6E8A-4147-A177-3AD203B41FA5}">
                      <a16:colId xmlns:a16="http://schemas.microsoft.com/office/drawing/2014/main" val="289650691"/>
                    </a:ext>
                  </a:extLst>
                </a:gridCol>
                <a:gridCol w="1090712">
                  <a:extLst>
                    <a:ext uri="{9D8B030D-6E8A-4147-A177-3AD203B41FA5}">
                      <a16:colId xmlns:a16="http://schemas.microsoft.com/office/drawing/2014/main" val="3594871451"/>
                    </a:ext>
                  </a:extLst>
                </a:gridCol>
                <a:gridCol w="1090712">
                  <a:extLst>
                    <a:ext uri="{9D8B030D-6E8A-4147-A177-3AD203B41FA5}">
                      <a16:colId xmlns:a16="http://schemas.microsoft.com/office/drawing/2014/main" val="2458869280"/>
                    </a:ext>
                  </a:extLst>
                </a:gridCol>
                <a:gridCol w="1090712">
                  <a:extLst>
                    <a:ext uri="{9D8B030D-6E8A-4147-A177-3AD203B41FA5}">
                      <a16:colId xmlns:a16="http://schemas.microsoft.com/office/drawing/2014/main" val="1323176649"/>
                    </a:ext>
                  </a:extLst>
                </a:gridCol>
              </a:tblGrid>
              <a:tr h="215266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OCUPACIÓN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436660"/>
                  </a:ext>
                </a:extLst>
              </a:tr>
              <a:tr h="21526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301061"/>
                  </a:ext>
                </a:extLst>
              </a:tr>
              <a:tr h="21526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SEMESTRE 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SEMESTRE 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SEMESTRE 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500834"/>
                  </a:ext>
                </a:extLst>
              </a:tr>
              <a:tr h="421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Hospitalización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98.91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973597"/>
                  </a:ext>
                </a:extLst>
              </a:tr>
              <a:tr h="2152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UCI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94.75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94.34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93.92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877850"/>
                  </a:ext>
                </a:extLst>
              </a:tr>
              <a:tr h="2152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UCIN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94.29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90.84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91.79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26471"/>
                  </a:ext>
                </a:extLst>
              </a:tr>
              <a:tr h="421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INSTITUCIONAL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95.98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94.44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94.90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751297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F2F56CD1-1541-4DE1-600C-5C90525D7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773155"/>
              </p:ext>
            </p:extLst>
          </p:nvPr>
        </p:nvGraphicFramePr>
        <p:xfrm>
          <a:off x="2286001" y="4476409"/>
          <a:ext cx="2362200" cy="662940"/>
        </p:xfrm>
        <a:graphic>
          <a:graphicData uri="http://schemas.openxmlformats.org/drawingml/2006/table">
            <a:tbl>
              <a:tblPr/>
              <a:tblGrid>
                <a:gridCol w="787400">
                  <a:extLst>
                    <a:ext uri="{9D8B030D-6E8A-4147-A177-3AD203B41FA5}">
                      <a16:colId xmlns:a16="http://schemas.microsoft.com/office/drawing/2014/main" val="392634043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47341353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4283030912"/>
                    </a:ext>
                  </a:extLst>
                </a:gridCol>
              </a:tblGrid>
              <a:tr h="182880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ESTANCIAS 1 SEMESTRE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389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2883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804787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A9E8AF6F-78C8-F093-45AC-F93E3FB47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976983"/>
              </p:ext>
            </p:extLst>
          </p:nvPr>
        </p:nvGraphicFramePr>
        <p:xfrm>
          <a:off x="7741369" y="2132625"/>
          <a:ext cx="2362200" cy="662940"/>
        </p:xfrm>
        <a:graphic>
          <a:graphicData uri="http://schemas.openxmlformats.org/drawingml/2006/table">
            <a:tbl>
              <a:tblPr/>
              <a:tblGrid>
                <a:gridCol w="787400">
                  <a:extLst>
                    <a:ext uri="{9D8B030D-6E8A-4147-A177-3AD203B41FA5}">
                      <a16:colId xmlns:a16="http://schemas.microsoft.com/office/drawing/2014/main" val="337539411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87766705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971033599"/>
                    </a:ext>
                  </a:extLst>
                </a:gridCol>
              </a:tblGrid>
              <a:tr h="182880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PACIENTES CAMA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1531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1956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107.43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115.95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120.94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254756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48CFE693-1154-0025-83CD-4ED14C913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014062"/>
              </p:ext>
            </p:extLst>
          </p:nvPr>
        </p:nvGraphicFramePr>
        <p:xfrm>
          <a:off x="7693743" y="3020748"/>
          <a:ext cx="2457452" cy="600629"/>
        </p:xfrm>
        <a:graphic>
          <a:graphicData uri="http://schemas.openxmlformats.org/drawingml/2006/table">
            <a:tbl>
              <a:tblPr/>
              <a:tblGrid>
                <a:gridCol w="1228726">
                  <a:extLst>
                    <a:ext uri="{9D8B030D-6E8A-4147-A177-3AD203B41FA5}">
                      <a16:colId xmlns:a16="http://schemas.microsoft.com/office/drawing/2014/main" val="1691109063"/>
                    </a:ext>
                  </a:extLst>
                </a:gridCol>
                <a:gridCol w="1228726">
                  <a:extLst>
                    <a:ext uri="{9D8B030D-6E8A-4147-A177-3AD203B41FA5}">
                      <a16:colId xmlns:a16="http://schemas.microsoft.com/office/drawing/2014/main" val="3111049776"/>
                    </a:ext>
                  </a:extLst>
                </a:gridCol>
              </a:tblGrid>
              <a:tr h="3770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2024 -&gt; 2025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2025 -&gt; 2026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192324"/>
                  </a:ext>
                </a:extLst>
              </a:tr>
              <a:tr h="223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4.99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874571"/>
                  </a:ext>
                </a:extLst>
              </a:tr>
            </a:tbl>
          </a:graphicData>
        </a:graphic>
      </p:graphicFrame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EE7D5662-C5E6-C81F-714F-FA51C61B4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56565"/>
              </p:ext>
            </p:extLst>
          </p:nvPr>
        </p:nvGraphicFramePr>
        <p:xfrm>
          <a:off x="7025352" y="3908871"/>
          <a:ext cx="3662313" cy="906485"/>
        </p:xfrm>
        <a:graphic>
          <a:graphicData uri="http://schemas.openxmlformats.org/drawingml/2006/table">
            <a:tbl>
              <a:tblPr/>
              <a:tblGrid>
                <a:gridCol w="1883053">
                  <a:extLst>
                    <a:ext uri="{9D8B030D-6E8A-4147-A177-3AD203B41FA5}">
                      <a16:colId xmlns:a16="http://schemas.microsoft.com/office/drawing/2014/main" val="805125770"/>
                    </a:ext>
                  </a:extLst>
                </a:gridCol>
                <a:gridCol w="1779260">
                  <a:extLst>
                    <a:ext uri="{9D8B030D-6E8A-4147-A177-3AD203B41FA5}">
                      <a16:colId xmlns:a16="http://schemas.microsoft.com/office/drawing/2014/main" val="2240020372"/>
                    </a:ext>
                  </a:extLst>
                </a:gridCol>
              </a:tblGrid>
              <a:tr h="22859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INGRESOS ADICIONALES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53940"/>
                  </a:ext>
                </a:extLst>
              </a:tr>
              <a:tr h="2285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2024 -&gt; 2025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2025 -&gt; 2026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975121"/>
                  </a:ext>
                </a:extLst>
              </a:tr>
              <a:tr h="4493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1,352,714,118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1,184,760,899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974335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25322C61-F77F-B2AF-E191-BCC517F50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25420"/>
            <a:ext cx="12192000" cy="599307"/>
          </a:xfrm>
        </p:spPr>
        <p:txBody>
          <a:bodyPr/>
          <a:lstStyle/>
          <a:p>
            <a:r>
              <a:rPr lang="es-CO" dirty="0"/>
              <a:t>Comparación monetización de primer semestre 2024, 2025 7 2026</a:t>
            </a:r>
          </a:p>
        </p:txBody>
      </p:sp>
    </p:spTree>
    <p:extLst>
      <p:ext uri="{BB962C8B-B14F-4D97-AF65-F5344CB8AC3E}">
        <p14:creationId xmlns:p14="http://schemas.microsoft.com/office/powerpoint/2010/main" val="1133408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11277600" cy="685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s-CO" sz="3200" b="1" dirty="0">
                <a:solidFill>
                  <a:srgbClr val="44546A"/>
                </a:solidFill>
              </a:rPr>
              <a:t>Impacto en los tres ejes de DIME</a:t>
            </a:r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11277600" cy="5257800"/>
          </a:xfrm>
          <a:prstGeom prst="roundRect">
            <a:avLst>
              <a:gd name="adj" fmla="val 3000"/>
            </a:avLst>
          </a:prstGeom>
          <a:noFill/>
          <a:ln>
            <a:noFill/>
          </a:ln>
          <a:effectLst>
            <a:outerShdw blurRad="90000" dist="300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420508"/>
              </p:ext>
            </p:extLst>
          </p:nvPr>
        </p:nvGraphicFramePr>
        <p:xfrm>
          <a:off x="685800" y="1524000"/>
          <a:ext cx="10820400" cy="38862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Eje</a:t>
                      </a:r>
                    </a:p>
                  </a:txBody>
                  <a:tcPr marL="45720" marR="45720" marT="22860" marB="2286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Estado actual</a:t>
                      </a:r>
                    </a:p>
                  </a:txBody>
                  <a:tcPr marL="45720" marR="45720" marT="22860" marB="2286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Riesgo</a:t>
                      </a:r>
                    </a:p>
                  </a:txBody>
                  <a:tcPr marL="45720" marR="45720" marT="22860" marB="22860"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Resultado operacional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Giro cama sube pero desacelera; estancias inactivas institucionales bajan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Seguir trabajando en el tiempo de egreso, difícil sostener el ritmo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Modelo de calidad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Reingresos en 0%, muy por debajo del estándar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Ninguno detectado con la evidencia disponible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Experiencia del paciente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Estancia en urgencias mejorando después de finalizar PGP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dirty="0">
                          <a:solidFill>
                            <a:srgbClr val="44546A"/>
                          </a:solidFill>
                        </a:rPr>
                        <a:t>Cuello de botella hospitalización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11277600" cy="685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s-CO" sz="3200" b="1" dirty="0">
                <a:solidFill>
                  <a:srgbClr val="44546A"/>
                </a:solidFill>
              </a:rPr>
              <a:t>Plan de acción</a:t>
            </a:r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11277600" cy="5257800"/>
          </a:xfrm>
          <a:prstGeom prst="roundRect">
            <a:avLst>
              <a:gd name="adj" fmla="val 3000"/>
            </a:avLst>
          </a:prstGeom>
          <a:noFill/>
          <a:ln>
            <a:noFill/>
          </a:ln>
          <a:effectLst>
            <a:outerShdw blurRad="90000" dist="300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NumCircle0"/>
          <p:cNvSpPr/>
          <p:nvPr/>
        </p:nvSpPr>
        <p:spPr>
          <a:xfrm>
            <a:off x="914400" y="1371600"/>
            <a:ext cx="609600" cy="609600"/>
          </a:xfrm>
          <a:prstGeom prst="ellipse">
            <a:avLst/>
          </a:prstGeom>
          <a:solidFill>
            <a:srgbClr val="44546A"/>
          </a:solidFill>
          <a:ln>
            <a:noFill/>
          </a:ln>
        </p:spPr>
        <p:txBody>
          <a:bodyPr anchor="ctr"/>
          <a:lstStyle/>
          <a:p>
            <a:pPr algn="ctr"/>
            <a:r>
              <a:rPr lang="es-CO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" name="Body"/>
          <p:cNvSpPr txBox="1"/>
          <p:nvPr/>
        </p:nvSpPr>
        <p:spPr>
          <a:xfrm>
            <a:off x="1676400" y="1325880"/>
            <a:ext cx="9601200" cy="990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s-CO" sz="1500" b="1" dirty="0">
                <a:solidFill>
                  <a:srgbClr val="44546A"/>
                </a:solidFill>
              </a:rPr>
              <a:t>Esta semana — Enfermería/Jefe de Servicio</a:t>
            </a:r>
          </a:p>
          <a:p>
            <a:pPr marL="0" indent="0">
              <a:buNone/>
            </a:pPr>
            <a:r>
              <a:rPr lang="es-CO" sz="1500" dirty="0">
                <a:solidFill>
                  <a:srgbClr val="262626"/>
                </a:solidFill>
              </a:rPr>
              <a:t>Mejorar el registro del tiempo entre definición de salida y egreso efectivo. Meta inicial: ≤ 90 minutos.</a:t>
            </a:r>
          </a:p>
        </p:txBody>
      </p:sp>
      <p:sp>
        <p:nvSpPr>
          <p:cNvPr id="31" name="NumCircle1"/>
          <p:cNvSpPr/>
          <p:nvPr/>
        </p:nvSpPr>
        <p:spPr>
          <a:xfrm>
            <a:off x="914400" y="2362200"/>
            <a:ext cx="609600" cy="609600"/>
          </a:xfrm>
          <a:prstGeom prst="ellipse">
            <a:avLst/>
          </a:prstGeom>
          <a:solidFill>
            <a:srgbClr val="44546A"/>
          </a:solidFill>
          <a:ln>
            <a:noFill/>
          </a:ln>
        </p:spPr>
        <p:txBody>
          <a:bodyPr anchor="ctr"/>
          <a:lstStyle/>
          <a:p>
            <a:pPr algn="ctr"/>
            <a:r>
              <a:rPr lang="es-CO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Body"/>
          <p:cNvSpPr txBox="1"/>
          <p:nvPr/>
        </p:nvSpPr>
        <p:spPr>
          <a:xfrm>
            <a:off x="1676400" y="2316480"/>
            <a:ext cx="9601200" cy="990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s-CO" sz="1500" b="1" dirty="0">
                <a:solidFill>
                  <a:srgbClr val="44546A"/>
                </a:solidFill>
              </a:rPr>
              <a:t>Esta semana — Líder PREXO</a:t>
            </a:r>
          </a:p>
          <a:p>
            <a:pPr marL="0" indent="0">
              <a:buNone/>
            </a:pPr>
            <a:r>
              <a:rPr lang="es-CO" sz="1500" dirty="0">
                <a:solidFill>
                  <a:srgbClr val="262626"/>
                </a:solidFill>
              </a:rPr>
              <a:t>Desagregar la estancia inactiva por causa (clínica, EPS, IPS/interna, transporte).</a:t>
            </a:r>
          </a:p>
        </p:txBody>
      </p:sp>
      <p:sp>
        <p:nvSpPr>
          <p:cNvPr id="32" name="NumCircle2"/>
          <p:cNvSpPr/>
          <p:nvPr/>
        </p:nvSpPr>
        <p:spPr>
          <a:xfrm>
            <a:off x="914400" y="3352800"/>
            <a:ext cx="609600" cy="609600"/>
          </a:xfrm>
          <a:prstGeom prst="ellipse">
            <a:avLst/>
          </a:prstGeom>
          <a:solidFill>
            <a:srgbClr val="44546A"/>
          </a:solidFill>
          <a:ln>
            <a:noFill/>
          </a:ln>
        </p:spPr>
        <p:txBody>
          <a:bodyPr anchor="ctr"/>
          <a:lstStyle/>
          <a:p>
            <a:pPr algn="ctr"/>
            <a:r>
              <a:rPr lang="es-CO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2" name="Body"/>
          <p:cNvSpPr txBox="1"/>
          <p:nvPr/>
        </p:nvSpPr>
        <p:spPr>
          <a:xfrm>
            <a:off x="1676400" y="3307080"/>
            <a:ext cx="9601200" cy="990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s-CO" sz="1500" b="1" dirty="0">
                <a:solidFill>
                  <a:srgbClr val="44546A"/>
                </a:solidFill>
              </a:rPr>
              <a:t>Próximas 2 semanas — Comité PREXO</a:t>
            </a:r>
          </a:p>
          <a:p>
            <a:pPr marL="0" indent="0">
              <a:buNone/>
            </a:pPr>
            <a:r>
              <a:rPr lang="es-CO" sz="1500" dirty="0">
                <a:solidFill>
                  <a:srgbClr val="262626"/>
                </a:solidFill>
              </a:rPr>
              <a:t>Proyecto de </a:t>
            </a:r>
            <a:r>
              <a:rPr lang="es-CO" sz="1500" dirty="0" err="1">
                <a:solidFill>
                  <a:srgbClr val="262626"/>
                </a:solidFill>
              </a:rPr>
              <a:t>Go</a:t>
            </a:r>
            <a:r>
              <a:rPr lang="es-CO" sz="1500" dirty="0">
                <a:solidFill>
                  <a:srgbClr val="262626"/>
                </a:solidFill>
              </a:rPr>
              <a:t> </a:t>
            </a:r>
            <a:r>
              <a:rPr lang="es-CO" sz="1500" dirty="0" err="1">
                <a:solidFill>
                  <a:srgbClr val="262626"/>
                </a:solidFill>
              </a:rPr>
              <a:t>ecosystem</a:t>
            </a:r>
            <a:r>
              <a:rPr lang="es-CO" sz="1500" dirty="0">
                <a:solidFill>
                  <a:srgbClr val="262626"/>
                </a:solidFill>
              </a:rPr>
              <a:t> que permita Mapear el proceso de alta (VSM) desde la orden médica hasta la salida física del paciente.</a:t>
            </a:r>
          </a:p>
        </p:txBody>
      </p:sp>
      <p:sp>
        <p:nvSpPr>
          <p:cNvPr id="33" name="NumCircle3"/>
          <p:cNvSpPr/>
          <p:nvPr/>
        </p:nvSpPr>
        <p:spPr>
          <a:xfrm>
            <a:off x="914400" y="4343400"/>
            <a:ext cx="609600" cy="609600"/>
          </a:xfrm>
          <a:prstGeom prst="ellipse">
            <a:avLst/>
          </a:prstGeom>
          <a:solidFill>
            <a:srgbClr val="44546A"/>
          </a:solidFill>
          <a:ln>
            <a:noFill/>
          </a:ln>
        </p:spPr>
        <p:txBody>
          <a:bodyPr anchor="ctr"/>
          <a:lstStyle/>
          <a:p>
            <a:pPr algn="ctr"/>
            <a:r>
              <a:rPr lang="es-CO" sz="2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3" name="Body"/>
          <p:cNvSpPr txBox="1"/>
          <p:nvPr/>
        </p:nvSpPr>
        <p:spPr>
          <a:xfrm>
            <a:off x="1676400" y="4297680"/>
            <a:ext cx="9601200" cy="990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s-CO" sz="1500" b="1" dirty="0">
                <a:solidFill>
                  <a:srgbClr val="44546A"/>
                </a:solidFill>
              </a:rPr>
              <a:t>Este mes — Alta Gerencia</a:t>
            </a:r>
          </a:p>
          <a:p>
            <a:pPr marL="0" indent="0">
              <a:buNone/>
            </a:pPr>
            <a:r>
              <a:rPr lang="es-CO" sz="1500" dirty="0">
                <a:solidFill>
                  <a:srgbClr val="262626"/>
                </a:solidFill>
              </a:rPr>
              <a:t>Mejorar la liquidez de la clínica para evitar el bloqueo de los proveedores.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</TotalTime>
  <Words>1293</Words>
  <Application>Microsoft Macintosh PowerPoint</Application>
  <PresentationFormat>Panorámica</PresentationFormat>
  <Paragraphs>202</Paragraphs>
  <Slides>15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15</vt:i4>
      </vt:variant>
    </vt:vector>
  </HeadingPairs>
  <TitlesOfParts>
    <vt:vector size="24" baseType="lpstr">
      <vt:lpstr>Aptos</vt:lpstr>
      <vt:lpstr>Aptos Narrow</vt:lpstr>
      <vt:lpstr>Arial</vt:lpstr>
      <vt:lpstr>Calibri</vt:lpstr>
      <vt:lpstr>Cambria</vt:lpstr>
      <vt:lpstr>Tahoma</vt:lpstr>
      <vt:lpstr>2_Tema de Office</vt:lpstr>
      <vt:lpstr>3_Tema de Office</vt:lpstr>
      <vt:lpstr>4_Tema de Office</vt:lpstr>
      <vt:lpstr>PREXO Giro Cama Institucional</vt:lpstr>
      <vt:lpstr>Tareas</vt:lpstr>
      <vt:lpstr>Ejecución de tareas</vt:lpstr>
      <vt:lpstr>Revista hospitalización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Comparación monetización de primer semestre 2024, 2025 7 2026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Carolina Isaza de Lourido</dc:creator>
  <cp:lastModifiedBy>Carolina Isaza de Lourido</cp:lastModifiedBy>
  <cp:revision>10</cp:revision>
  <dcterms:created xsi:type="dcterms:W3CDTF">2026-06-02T18:55:25Z</dcterms:created>
  <dcterms:modified xsi:type="dcterms:W3CDTF">2026-07-09T15:38:27Z</dcterms:modified>
</cp:coreProperties>
</file>