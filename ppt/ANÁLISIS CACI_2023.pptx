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6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Sebastian Hurtado" userId="4d2c009c-02e3-430e-9c88-f7e7a47f09be" providerId="ADAL" clId="{11662551-F6EB-4524-B176-BC6865EC8007}"/>
    <pc:docChg chg="modSld">
      <pc:chgData name="Juan Sebastian Hurtado" userId="4d2c009c-02e3-430e-9c88-f7e7a47f09be" providerId="ADAL" clId="{11662551-F6EB-4524-B176-BC6865EC8007}" dt="2024-08-28T16:16:05.979" v="38" actId="20577"/>
      <pc:docMkLst>
        <pc:docMk/>
      </pc:docMkLst>
      <pc:sldChg chg="modSp mod">
        <pc:chgData name="Juan Sebastian Hurtado" userId="4d2c009c-02e3-430e-9c88-f7e7a47f09be" providerId="ADAL" clId="{11662551-F6EB-4524-B176-BC6865EC8007}" dt="2024-08-28T16:16:05.979" v="38" actId="20577"/>
        <pc:sldMkLst>
          <pc:docMk/>
          <pc:sldMk cId="1196054240" sldId="256"/>
        </pc:sldMkLst>
        <pc:spChg chg="mod">
          <ac:chgData name="Juan Sebastian Hurtado" userId="4d2c009c-02e3-430e-9c88-f7e7a47f09be" providerId="ADAL" clId="{11662551-F6EB-4524-B176-BC6865EC8007}" dt="2024-08-28T16:15:58.639" v="9" actId="20577"/>
          <ac:spMkLst>
            <pc:docMk/>
            <pc:sldMk cId="1196054240" sldId="256"/>
            <ac:spMk id="2" creationId="{A10A2A53-FEA2-F028-205B-0312D8DB5E93}"/>
          </ac:spMkLst>
        </pc:spChg>
        <pc:spChg chg="mod">
          <ac:chgData name="Juan Sebastian Hurtado" userId="4d2c009c-02e3-430e-9c88-f7e7a47f09be" providerId="ADAL" clId="{11662551-F6EB-4524-B176-BC6865EC8007}" dt="2024-08-28T16:16:05.979" v="38" actId="20577"/>
          <ac:spMkLst>
            <pc:docMk/>
            <pc:sldMk cId="1196054240" sldId="256"/>
            <ac:spMk id="3" creationId="{8F05E372-AFB8-3928-CC89-135416D0314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F311E-6979-60D0-D858-CC21F3E00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5F2246-377A-E27E-8525-97198DAFE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6171DF-FF33-AB41-2E45-F904192BD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224F94-C2A5-73AE-1045-2B9BB4FB3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2AB4111-889A-6B7C-F868-E6AAA59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27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25624-7E0E-6706-EBFE-5F8AB300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FE03A9-AF48-A77B-5BD1-E77624475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B7173C-6017-5887-D953-2B71142C4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98DB7D-640F-748A-3D94-8AD736BAB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FC45D3-DD7E-423E-4A80-BED5E909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224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18C51-60CA-ED8F-4053-C9725FDC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9E56499-D1C3-E06E-9F7A-0BED5AE8F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FD7E7F-153C-9B21-A066-8100928B6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072429-3260-D2C4-E649-6D8ECEB9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DADE52-2818-94BD-EFAC-679B6AA3A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0408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8D5BF-988F-0DCE-100E-040CD34C1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101285-5E10-5E13-D7E0-D77775BB6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8B5003-32D8-CF8F-A8EC-A1BE2CCCE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F58F88-5359-F3CE-151E-DEE83DF99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D94793-613B-A437-0903-2CEEB058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877B4F-4727-5A50-2035-70E9EF69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13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D3AAAD-A5F6-5C7B-A143-36C0470E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CD4F9D-3306-3DBA-78DB-BA8608C9D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6E7F7D-E10D-9DE0-1EE2-507530D56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E0F176-BD4F-FF05-8EBB-7D10F8DBD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734BD4-85E7-1F7F-4164-6AE0AFD9B0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277AB9-8837-5EF1-CC5D-73ACE889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0443A4-1E9F-7C61-2B02-A6F944B6C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BBDF76-25B5-2BDD-62BE-84FB8139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602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823255-8A31-F1AC-F98A-96E334432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3288A6-0481-6954-71C9-4A89C0AA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E7B700-FD66-6018-1788-A84B929D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9B47ABD-E0FA-00D5-B36F-341E0BA43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7858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E23B98-D3E6-CB8E-7A29-58A83BE38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3470B51-2062-7312-F610-9C5BE9E56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09FAD5-951D-A316-A1CE-293B489C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973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B0209-BD7A-95BB-0A65-C5C28A00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B6F51F-C5BB-8403-12E0-DAD0DD686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456EF1-684B-474F-C2B7-29126306D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64FF5C-91BF-670D-79E9-75012B40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E854CF-ADDA-FFAF-B871-E4F80D985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A9E83D-E00C-5E25-786F-30CCAC4F6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308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01B07-2CDE-6B67-9747-4686D18F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DC5D45-AE0D-761C-E950-B5F3F4EF6B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72E322-09EC-1F0D-5F5E-F78BE6D9C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1020AE-3BDC-FEC9-2ED6-4884AB32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C087CE-5E2E-36F4-BE53-4F19FBFA1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4DE9D8-802B-E20D-AF12-AB49CAEAF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7679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74BC5-98EB-E09F-482B-BE5FEBA95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560B79-8EFE-257D-3B27-20506F4DD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901EC5-BD80-E3BF-C9E2-19A57BAC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6E5924-1CAE-1A84-24D8-BBF6F487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AA2FCB-D7D1-EE9C-6BB2-E65EC07A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622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07645D3-B81D-A447-C7A4-C018C5F6E9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8D3BF4E-B207-CC2E-3C1F-E2A28B2A7A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04BCFD-6E1B-E069-6FD1-928EB2165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E1CFA-DAB8-2275-FBB1-75699B2A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BE7F0-9487-EFAE-BEA8-96C55BFAB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112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FAD1BF1-3B8F-C570-2581-ACD1D1485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34CEB2-D187-A428-38DE-01EFBD15E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D2B247-BE2B-10B6-4642-9916339E7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48129-586D-456C-A12F-AC5D751D90DC}" type="datetimeFigureOut">
              <a:rPr lang="es-CO" smtClean="0"/>
              <a:t>28/08/2024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E7875-7405-B011-9A6B-E95BE90076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B0D61E-F33E-DBF1-61E5-4A736655C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B31A9-54F4-4C83-9735-204BCF860C6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99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A2A53-FEA2-F028-205B-0312D8DB5E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7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ANÁLISIS GRD</a:t>
            </a:r>
            <a:endParaRPr lang="es-CO" sz="7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05E372-AFB8-3928-CC89-135416D03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DIME CLÍNICA NEUROCARDIOVASC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054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C90AF5F-34F6-E548-D87D-6FD64E5BB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788277"/>
              </p:ext>
            </p:extLst>
          </p:nvPr>
        </p:nvGraphicFramePr>
        <p:xfrm>
          <a:off x="660138" y="276838"/>
          <a:ext cx="10871724" cy="6392399"/>
        </p:xfrm>
        <a:graphic>
          <a:graphicData uri="http://schemas.openxmlformats.org/drawingml/2006/table">
            <a:tbl>
              <a:tblPr firstRow="1" bandRow="1"/>
              <a:tblGrid>
                <a:gridCol w="2717931">
                  <a:extLst>
                    <a:ext uri="{9D8B030D-6E8A-4147-A177-3AD203B41FA5}">
                      <a16:colId xmlns:a16="http://schemas.microsoft.com/office/drawing/2014/main" val="2803162211"/>
                    </a:ext>
                  </a:extLst>
                </a:gridCol>
                <a:gridCol w="2717931">
                  <a:extLst>
                    <a:ext uri="{9D8B030D-6E8A-4147-A177-3AD203B41FA5}">
                      <a16:colId xmlns:a16="http://schemas.microsoft.com/office/drawing/2014/main" val="1905525656"/>
                    </a:ext>
                  </a:extLst>
                </a:gridCol>
                <a:gridCol w="2717931">
                  <a:extLst>
                    <a:ext uri="{9D8B030D-6E8A-4147-A177-3AD203B41FA5}">
                      <a16:colId xmlns:a16="http://schemas.microsoft.com/office/drawing/2014/main" val="2375359388"/>
                    </a:ext>
                  </a:extLst>
                </a:gridCol>
                <a:gridCol w="2717931">
                  <a:extLst>
                    <a:ext uri="{9D8B030D-6E8A-4147-A177-3AD203B41FA5}">
                      <a16:colId xmlns:a16="http://schemas.microsoft.com/office/drawing/2014/main" val="3591860582"/>
                    </a:ext>
                  </a:extLst>
                </a:gridCol>
              </a:tblGrid>
              <a:tr h="22574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ATENCIONES SCA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2023.1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50</a:t>
                      </a:r>
                      <a:r>
                        <a:rPr lang="en-US" sz="1200" baseline="300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2023.2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91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2023.3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76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558857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Edad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 (61, 78)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 (61, 75)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 (65, 78)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7917172"/>
                  </a:ext>
                </a:extLst>
              </a:tr>
              <a:tr h="26337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Grupo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edad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58231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40-49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(4.0%)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(4.4%)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701580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50-59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 (20%)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 (16%)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 (16%)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318789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60-69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 (26%)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 (34%)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 (37%)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74664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70-79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 (32%)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 (32%)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 (25%)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65030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80+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 (18%)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 (13%)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 (22%)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76278"/>
                  </a:ext>
                </a:extLst>
              </a:tr>
              <a:tr h="26337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Sexo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76328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 (42%)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 (24%)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 (28%)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456797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 (58%)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 (76%)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55 (72%)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141373"/>
                  </a:ext>
                </a:extLst>
              </a:tr>
              <a:tr h="26337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EAPB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323223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COOMEVA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(4.0%)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185771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MEDPLUS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(1.1%)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(5.3%)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071063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NUEVA EPS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(14%)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 (15%)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 (30%)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98410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SANITAS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 (74%)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 (73%)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42 (55%)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237262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SURA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(8.0%)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 (8.8%)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 (6.6%)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277950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UNIVALLE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102941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Estancia días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(3, 12)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(3, 8)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(0, 9)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774994"/>
                  </a:ext>
                </a:extLst>
              </a:tr>
              <a:tr h="26337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Condición del alta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173901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MUERTO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(4.0%)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(1.1%)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136959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VIVO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48 (96%)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86 (99%)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 (100%)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177633"/>
                  </a:ext>
                </a:extLst>
              </a:tr>
              <a:tr h="26337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Remisión a cirugía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845231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38 (76%)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78 (86%)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 (97%)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481389"/>
                  </a:ext>
                </a:extLst>
              </a:tr>
              <a:tr h="225748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 (24%)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 (14%)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(2.6%)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369088"/>
                  </a:ext>
                </a:extLst>
              </a:tr>
              <a:tr h="334821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cuenta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mediana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atención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$10,733,781 (10,648,380, 24,238,412)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$13,044,848 (5,296,764, 26,092,158)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$8,546,569 (202,956, 25,711,092)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36459"/>
                  </a:ext>
                </a:extLst>
              </a:tr>
              <a:tr h="225748">
                <a:tc gridSpan="4"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aseline="300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 (IQR); n (%)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56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40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Marcador de contenido 8">
            <a:extLst>
              <a:ext uri="{FF2B5EF4-FFF2-40B4-BE49-F238E27FC236}">
                <a16:creationId xmlns:a16="http://schemas.microsoft.com/office/drawing/2014/main" id="{336E519B-B15B-70DF-AE61-B2DC10B5A9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237305"/>
              </p:ext>
            </p:extLst>
          </p:nvPr>
        </p:nvGraphicFramePr>
        <p:xfrm>
          <a:off x="545286" y="203716"/>
          <a:ext cx="10586904" cy="6450568"/>
        </p:xfrm>
        <a:graphic>
          <a:graphicData uri="http://schemas.openxmlformats.org/drawingml/2006/table">
            <a:tbl>
              <a:tblPr firstRow="1" bandRow="1"/>
              <a:tblGrid>
                <a:gridCol w="2682618">
                  <a:extLst>
                    <a:ext uri="{9D8B030D-6E8A-4147-A177-3AD203B41FA5}">
                      <a16:colId xmlns:a16="http://schemas.microsoft.com/office/drawing/2014/main" val="1388391817"/>
                    </a:ext>
                  </a:extLst>
                </a:gridCol>
                <a:gridCol w="2634762">
                  <a:extLst>
                    <a:ext uri="{9D8B030D-6E8A-4147-A177-3AD203B41FA5}">
                      <a16:colId xmlns:a16="http://schemas.microsoft.com/office/drawing/2014/main" val="4281719740"/>
                    </a:ext>
                  </a:extLst>
                </a:gridCol>
                <a:gridCol w="2634762">
                  <a:extLst>
                    <a:ext uri="{9D8B030D-6E8A-4147-A177-3AD203B41FA5}">
                      <a16:colId xmlns:a16="http://schemas.microsoft.com/office/drawing/2014/main" val="204380926"/>
                    </a:ext>
                  </a:extLst>
                </a:gridCol>
                <a:gridCol w="2634762">
                  <a:extLst>
                    <a:ext uri="{9D8B030D-6E8A-4147-A177-3AD203B41FA5}">
                      <a16:colId xmlns:a16="http://schemas.microsoft.com/office/drawing/2014/main" val="3921193237"/>
                    </a:ext>
                  </a:extLst>
                </a:gridCol>
              </a:tblGrid>
              <a:tr h="19646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ATENCIONES ACV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2023.1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68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2023.2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75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2023.3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72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290057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Edad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 (53, 77)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 (58, 82)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 (58, 80)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257919"/>
                  </a:ext>
                </a:extLst>
              </a:tr>
              <a:tr h="22920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Grupo edad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12708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20-29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92264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30-39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(4.4%)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(5.3%)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(2.8%)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871735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40-49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 (7.4%)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(9.3%)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(4.2%)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367104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50-59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 (22%)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 (13%)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 (21%)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574299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60-69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 (25%)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 (23%)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 (24%)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752792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70-79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 (19%)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 (13%)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 (21%)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42533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80+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 (21%)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 (36%)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 (28%)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008795"/>
                  </a:ext>
                </a:extLst>
              </a:tr>
              <a:tr h="22920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Sexo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298999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42 (62%)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 (53%)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 (47%)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806256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 (38%)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 (47%)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38 (53%)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5621381"/>
                  </a:ext>
                </a:extLst>
              </a:tr>
              <a:tr h="22920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EAPB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71260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ALLIANZ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154457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COOSALUD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088798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COLMEDICA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(2.9%)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97984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COOMEVA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387141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EMSSANAR URGENCIAS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5407848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NUEVA EPS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 (10%)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 (17%)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 (21%)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02645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SANITAS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 (65%)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46 (61%)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39 (54%)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843863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SURA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 (13%)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 (16%)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 (22%)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934944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UNIVALLE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(5.9%)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(2.7%)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(1.4%)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334855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Estancia días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 (3, 10)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(2, 9)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(4, 10)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95952"/>
                  </a:ext>
                </a:extLst>
              </a:tr>
              <a:tr h="22920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Condición del alta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621192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MUERTO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(3.0%)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(8.2%)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(5.7%)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856267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VIVO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 (97%)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67 (92%)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 (94%)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53693"/>
                  </a:ext>
                </a:extLst>
              </a:tr>
              <a:tr h="229208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Remisión a cirugía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457498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 (97%)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 (97%)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71 (99%)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152284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(2.9%)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(2.7%)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(1.4%)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343117"/>
                  </a:ext>
                </a:extLst>
              </a:tr>
              <a:tr h="196464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cuenta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mediana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atención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7,986,856 (4,069,735, 37,193,924)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7,794,365 (2,073,308, 17,602,222)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8,267,137 (3,445,373, 16,060,185)</a:t>
                      </a:r>
                      <a:endParaRPr lang="es-CO" sz="14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152616"/>
                  </a:ext>
                </a:extLst>
              </a:tr>
              <a:tr h="196464">
                <a:tc gridSpan="4"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aseline="300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 (IQR); n (%)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44527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503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6DF3E07-B476-DDD8-4958-378878CED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37905"/>
              </p:ext>
            </p:extLst>
          </p:nvPr>
        </p:nvGraphicFramePr>
        <p:xfrm>
          <a:off x="478277" y="306113"/>
          <a:ext cx="11235445" cy="6237308"/>
        </p:xfrm>
        <a:graphic>
          <a:graphicData uri="http://schemas.openxmlformats.org/drawingml/2006/table">
            <a:tbl>
              <a:tblPr firstRow="1" bandRow="1"/>
              <a:tblGrid>
                <a:gridCol w="3311530">
                  <a:extLst>
                    <a:ext uri="{9D8B030D-6E8A-4147-A177-3AD203B41FA5}">
                      <a16:colId xmlns:a16="http://schemas.microsoft.com/office/drawing/2014/main" val="3571335621"/>
                    </a:ext>
                  </a:extLst>
                </a:gridCol>
                <a:gridCol w="2584145">
                  <a:extLst>
                    <a:ext uri="{9D8B030D-6E8A-4147-A177-3AD203B41FA5}">
                      <a16:colId xmlns:a16="http://schemas.microsoft.com/office/drawing/2014/main" val="3528179729"/>
                    </a:ext>
                  </a:extLst>
                </a:gridCol>
                <a:gridCol w="2669885">
                  <a:extLst>
                    <a:ext uri="{9D8B030D-6E8A-4147-A177-3AD203B41FA5}">
                      <a16:colId xmlns:a16="http://schemas.microsoft.com/office/drawing/2014/main" val="2241121516"/>
                    </a:ext>
                  </a:extLst>
                </a:gridCol>
                <a:gridCol w="2669885">
                  <a:extLst>
                    <a:ext uri="{9D8B030D-6E8A-4147-A177-3AD203B41FA5}">
                      <a16:colId xmlns:a16="http://schemas.microsoft.com/office/drawing/2014/main" val="3021732735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63500" marR="6350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ATENCIONES PACIENTE ICC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2023.1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78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2023.2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110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2023.3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 N = 108</a:t>
                      </a:r>
                      <a:r>
                        <a:rPr lang="en-US" sz="1200" baseline="300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140491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Edad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75 (64, 85)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 (63, 84)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75 (63, 84)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470163"/>
                  </a:ext>
                </a:extLst>
              </a:tr>
              <a:tr h="20366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Grupo edad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080682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20-29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(2.8%)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94199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30-39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(1.8%)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(0.9%)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951067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40-49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(2.6%)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(0.9%)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(1.9%)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45935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50-59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 (10%)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 (15%)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 (13%)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1202684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60-69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 (17%)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 (23%)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 (21%)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83231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70-79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 (28%)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 (24%)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 (21%)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824271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80+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 (40%)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39 (35%)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42 (39%)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706823"/>
                  </a:ext>
                </a:extLst>
              </a:tr>
              <a:tr h="20366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Sexo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721252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 (35%)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45 (41%)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 (41%)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425456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51 (65%)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 (59%)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 (59%)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020191"/>
                  </a:ext>
                </a:extLst>
              </a:tr>
              <a:tr h="20366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EAPB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820268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COLMEDICA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39436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COOMEVA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(0.9%)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470638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MEDPLUS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(0.9%)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(3.7%)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767016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NUEVA EPS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 (12%)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 (15%)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 (15%)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319561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POLICIA NACIONAL  URGENCIAS 2017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(0.9%)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7339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SANITAS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 (83%)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78 (71%)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76 (70%)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5529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SURA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(3.8%)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 (11%)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 (9.3%)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314984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UNIVALLE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(1.8%)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315491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Estancia días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(4, 9)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(4, 11)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(3, 9)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807159"/>
                  </a:ext>
                </a:extLst>
              </a:tr>
              <a:tr h="20366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Condición del alta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25472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MUERTO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 (3.8%)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 (5.5%)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(0%)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8533735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VIVO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75 (96%)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 (94%)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108 (100%)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946098"/>
                  </a:ext>
                </a:extLst>
              </a:tr>
              <a:tr h="20366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Remisión a cirugía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631171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77 (99%)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102 (93%)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104 (96%)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819026"/>
                  </a:ext>
                </a:extLst>
              </a:tr>
              <a:tr h="197432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 (1.3%)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 (7.3%)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 (3.7%)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043947"/>
                  </a:ext>
                </a:extLst>
              </a:tr>
              <a:tr h="283173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cuenta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mediana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2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atención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4,152,784 (2,520,019, 7,986,856)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7,533,792 (2,532,339, 12,053,670)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5,643,489 (3,476,122, 11,306,088)</a:t>
                      </a:r>
                      <a:endParaRPr lang="es-CO" sz="120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7399189"/>
                  </a:ext>
                </a:extLst>
              </a:tr>
              <a:tr h="197432">
                <a:tc gridSpan="4"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200" baseline="300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 (IQR); n (%)</a:t>
                      </a:r>
                      <a:endParaRPr lang="es-CO" sz="12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573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2066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23EFEE86-8B6E-6670-90A0-0DC5AEAE4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967688"/>
              </p:ext>
            </p:extLst>
          </p:nvPr>
        </p:nvGraphicFramePr>
        <p:xfrm>
          <a:off x="385893" y="232553"/>
          <a:ext cx="11165747" cy="6411523"/>
        </p:xfrm>
        <a:graphic>
          <a:graphicData uri="http://schemas.openxmlformats.org/drawingml/2006/table">
            <a:tbl>
              <a:tblPr firstRow="1" bandRow="1"/>
              <a:tblGrid>
                <a:gridCol w="4098710">
                  <a:extLst>
                    <a:ext uri="{9D8B030D-6E8A-4147-A177-3AD203B41FA5}">
                      <a16:colId xmlns:a16="http://schemas.microsoft.com/office/drawing/2014/main" val="796700556"/>
                    </a:ext>
                  </a:extLst>
                </a:gridCol>
                <a:gridCol w="3977906">
                  <a:extLst>
                    <a:ext uri="{9D8B030D-6E8A-4147-A177-3AD203B41FA5}">
                      <a16:colId xmlns:a16="http://schemas.microsoft.com/office/drawing/2014/main" val="1680330833"/>
                    </a:ext>
                  </a:extLst>
                </a:gridCol>
                <a:gridCol w="3089131">
                  <a:extLst>
                    <a:ext uri="{9D8B030D-6E8A-4147-A177-3AD203B41FA5}">
                      <a16:colId xmlns:a16="http://schemas.microsoft.com/office/drawing/2014/main" val="2489886074"/>
                    </a:ext>
                  </a:extLst>
                </a:gridCol>
              </a:tblGrid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Characteristic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2023.1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, N = 3</a:t>
                      </a:r>
                      <a:r>
                        <a:rPr lang="en-US" sz="1400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2023.3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, N = 1</a:t>
                      </a:r>
                      <a:r>
                        <a:rPr lang="en-US" sz="1400" baseline="300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435101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Edad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636400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52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905972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58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3646334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60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804821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61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8925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Paciente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34208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GOMEZ CUELLAR LUIS EDUARDO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281826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MENA LOPEZ JOHN FABER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452305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RIOS  JOSE JESUS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92720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RODRIGUEZ RINCON MAURICIO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145857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Sexo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234328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M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 (100%)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245965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EAPB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457721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NUEVA EPS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390581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SANITAS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 (67%)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6336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SURA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956307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Estancia días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49910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28.4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966287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29.4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(50%)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230868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92.6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(50%)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983124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MX" sz="14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Sin egreso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356942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Condición</a:t>
                      </a:r>
                      <a:r>
                        <a:rPr lang="en-US" sz="1400" b="1" i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 del </a:t>
                      </a: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alta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245597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VIVO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3 (100%)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820667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Remisión a cirugía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16944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(33%)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 (100%)</a:t>
                      </a:r>
                      <a:endParaRPr lang="es-CO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255963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190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SI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2 (67%)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0 (0%)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159544"/>
                  </a:ext>
                </a:extLst>
              </a:tr>
              <a:tr h="221087">
                <a:tc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</a:t>
                      </a: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cuenta</a:t>
                      </a:r>
                      <a:r>
                        <a:rPr lang="en-US" sz="14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(</a:t>
                      </a: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mediana</a:t>
                      </a:r>
                      <a:r>
                        <a:rPr lang="en-US" sz="14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400" b="1" i="1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atención</a:t>
                      </a:r>
                      <a:r>
                        <a:rPr lang="en-US" sz="1400" b="1" i="1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)</a:t>
                      </a:r>
                      <a:endParaRPr lang="es-CO" sz="14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$</a:t>
                      </a:r>
                      <a:r>
                        <a:rPr lang="es-CO" sz="1400" dirty="0">
                          <a:effectLst/>
                        </a:rPr>
                        <a:t>249,</a:t>
                      </a:r>
                      <a:r>
                        <a:rPr lang="es-CO" sz="1400" u="sng" dirty="0">
                          <a:effectLst/>
                        </a:rPr>
                        <a:t>795,</a:t>
                      </a:r>
                      <a:r>
                        <a:rPr lang="es-CO" sz="1400" dirty="0">
                          <a:effectLst/>
                        </a:rPr>
                        <a:t>620 (±129,</a:t>
                      </a:r>
                      <a:r>
                        <a:rPr lang="es-CO" sz="1400" u="sng" dirty="0">
                          <a:effectLst/>
                        </a:rPr>
                        <a:t>096,</a:t>
                      </a:r>
                      <a:r>
                        <a:rPr lang="es-CO" sz="1400" dirty="0">
                          <a:effectLst/>
                        </a:rPr>
                        <a:t>018)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400" dirty="0">
                          <a:effectLst/>
                        </a:rPr>
                        <a:t>$125,</a:t>
                      </a:r>
                      <a:r>
                        <a:rPr lang="es-CO" sz="1400" u="sng" dirty="0">
                          <a:effectLst/>
                        </a:rPr>
                        <a:t>434,</a:t>
                      </a:r>
                      <a:r>
                        <a:rPr lang="es-CO" sz="1400" dirty="0">
                          <a:effectLst/>
                        </a:rPr>
                        <a:t>376</a:t>
                      </a:r>
                      <a:r>
                        <a:rPr lang="en-US" sz="1400" dirty="0">
                          <a:effectLst/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6316716"/>
                  </a:ext>
                </a:extLst>
              </a:tr>
              <a:tr h="221087">
                <a:tc gridSpan="3">
                  <a:txBody>
                    <a:bodyPr/>
                    <a:lstStyle/>
                    <a:p>
                      <a:pPr marL="63500" marR="63500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sz="1400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  <a:cs typeface="Times New Roman" panose="02020603050405020304" pitchFamily="18" charset="0"/>
                        </a:rPr>
                        <a:t>n (%)</a:t>
                      </a:r>
                      <a:endParaRPr lang="es-CO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042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01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>
            <a:extLst>
              <a:ext uri="{FF2B5EF4-FFF2-40B4-BE49-F238E27FC236}">
                <a16:creationId xmlns:a16="http://schemas.microsoft.com/office/drawing/2014/main" id="{4D1A462F-C623-CB3D-8B50-209D4F93C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4571" y="402063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O" altLang="es-CO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O" altLang="es-CO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E156162-D8E0-18DC-7C1A-692048BCF5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6877396"/>
              </p:ext>
            </p:extLst>
          </p:nvPr>
        </p:nvGraphicFramePr>
        <p:xfrm>
          <a:off x="402667" y="1577129"/>
          <a:ext cx="11409030" cy="3283479"/>
        </p:xfrm>
        <a:graphic>
          <a:graphicData uri="http://schemas.openxmlformats.org/drawingml/2006/table">
            <a:tbl>
              <a:tblPr firstRow="1" bandRow="1"/>
              <a:tblGrid>
                <a:gridCol w="1901505">
                  <a:extLst>
                    <a:ext uri="{9D8B030D-6E8A-4147-A177-3AD203B41FA5}">
                      <a16:colId xmlns:a16="http://schemas.microsoft.com/office/drawing/2014/main" val="745521495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2206313681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3482143442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1892898263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2403389619"/>
                    </a:ext>
                  </a:extLst>
                </a:gridCol>
                <a:gridCol w="1901505">
                  <a:extLst>
                    <a:ext uri="{9D8B030D-6E8A-4147-A177-3AD203B41FA5}">
                      <a16:colId xmlns:a16="http://schemas.microsoft.com/office/drawing/2014/main" val="1275273834"/>
                    </a:ext>
                  </a:extLst>
                </a:gridCol>
              </a:tblGrid>
              <a:tr h="850670"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1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Trimestre</a:t>
                      </a:r>
                      <a:endParaRPr lang="es-CO" sz="1800" b="1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1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SCA</a:t>
                      </a:r>
                      <a:endParaRPr lang="es-CO" sz="1800" b="1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1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ACV</a:t>
                      </a:r>
                      <a:endParaRPr lang="es-CO" sz="1800" b="1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1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ICC</a:t>
                      </a:r>
                      <a:endParaRPr lang="es-CO" sz="1800" b="1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1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 Trasplante</a:t>
                      </a:r>
                      <a:endParaRPr lang="es-CO" sz="1800" b="1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1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s-CO" sz="1800" b="1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289681"/>
                  </a:ext>
                </a:extLst>
              </a:tr>
              <a:tr h="425335"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2023.1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$866,685,598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$1,709,585,155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$581,630,767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$749,386,861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$3,907,288,381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209045"/>
                  </a:ext>
                </a:extLst>
              </a:tr>
              <a:tr h="425335"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2023.2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$1,849,376,999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$1,337,577,754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$1,556,893,244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$0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$4,743,847,997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938282"/>
                  </a:ext>
                </a:extLst>
              </a:tr>
              <a:tr h="731469"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2023.3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$1,194,913,786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$1,442,749,932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$1,289,457,483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$125,434,376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$4,052,555,577</a:t>
                      </a:r>
                      <a:endParaRPr lang="es-CO" sz="180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75579"/>
                  </a:ext>
                </a:extLst>
              </a:tr>
              <a:tr h="850670"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Total</a:t>
                      </a:r>
                      <a:endParaRPr lang="es-CO" sz="1800" b="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$3,910,976,383</a:t>
                      </a:r>
                      <a:endParaRPr lang="es-CO" sz="1800" b="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$4,489,912,841</a:t>
                      </a:r>
                      <a:endParaRPr lang="es-CO" sz="1800" b="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$3,427,981,494</a:t>
                      </a:r>
                      <a:endParaRPr lang="es-CO" sz="1800" b="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$874,821,237</a:t>
                      </a:r>
                      <a:endParaRPr lang="es-CO" sz="1800" b="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s-CO" sz="1600" b="0" noProof="0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$12,703,691,955</a:t>
                      </a:r>
                      <a:endParaRPr lang="es-CO" sz="1800" b="0" noProof="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963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67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1417</Words>
  <Application>Microsoft Office PowerPoint</Application>
  <PresentationFormat>Panorámica</PresentationFormat>
  <Paragraphs>469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Tahoma</vt:lpstr>
      <vt:lpstr>Tema de Office</vt:lpstr>
      <vt:lpstr>ANÁLISIS GRD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CACI </dc:title>
  <dc:creator>Juan Sebastian Hurtado</dc:creator>
  <cp:lastModifiedBy>Juan Sebastian Hurtado</cp:lastModifiedBy>
  <cp:revision>3</cp:revision>
  <dcterms:created xsi:type="dcterms:W3CDTF">2023-10-18T12:05:50Z</dcterms:created>
  <dcterms:modified xsi:type="dcterms:W3CDTF">2024-08-28T16:16:07Z</dcterms:modified>
</cp:coreProperties>
</file>